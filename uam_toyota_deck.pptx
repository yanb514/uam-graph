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652"/>
    <p:restoredTop sz="94610"/>
  </p:normalViewPr>
  <p:slideViewPr>
    <p:cSldViewPr snapToGrid="0" snapToObjects="1">
      <p:cViewPr varScale="1">
        <p:scale>
          <a:sx n="172" d="100"/>
          <a:sy n="172" d="100"/>
        </p:scale>
        <p:origin x="224" y="3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59869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B0A1E"/>
          </a:solidFill>
          <a:ln w="12700">
            <a:solidFill>
              <a:srgbClr val="EB0A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1280160"/>
            <a:ext cx="11475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0F0F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UAM Corridor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502920" y="2103120"/>
            <a:ext cx="11475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EB0A1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Communication–Transportation Simulation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2971800"/>
            <a:ext cx="11475720" cy="10973"/>
          </a:xfrm>
          <a:prstGeom prst="rect">
            <a:avLst/>
          </a:prstGeom>
          <a:solidFill>
            <a:srgbClr val="1E1E2A"/>
          </a:solidFill>
          <a:ln w="12700">
            <a:solidFill>
              <a:srgbClr val="1E1E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310896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B0B0C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coupled discrete-time model of UAV traffic &amp; communication for Urban Air Mobility corridors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3794760"/>
            <a:ext cx="11475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0607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Yanbing Wang (Arizona State University)  ·  Toyota InfoTech Lab·  Made with Claude Code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4297680"/>
            <a:ext cx="11475720" cy="10973"/>
          </a:xfrm>
          <a:prstGeom prst="rect">
            <a:avLst/>
          </a:prstGeom>
          <a:solidFill>
            <a:srgbClr val="1E1E2A"/>
          </a:solidFill>
          <a:ln w="12700">
            <a:solidFill>
              <a:srgbClr val="1E1E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" y="4434840"/>
            <a:ext cx="11475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607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March 2026  ·  For internal research use — Toyota ITL / ASU collaboration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02920" y="4892040"/>
            <a:ext cx="800100" cy="201168"/>
          </a:xfrm>
          <a:prstGeom prst="roundRect">
            <a:avLst>
              <a:gd name="adj" fmla="val 22727"/>
            </a:avLst>
          </a:prstGeom>
          <a:solidFill>
            <a:srgbClr val="F59E0B">
              <a:alpha val="20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4892040"/>
            <a:ext cx="8001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59E0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PROTOTYPE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" y="685800"/>
            <a:ext cx="73152" cy="5486400"/>
          </a:xfrm>
          <a:prstGeom prst="rect">
            <a:avLst/>
          </a:prstGeom>
          <a:solidFill>
            <a:srgbClr val="EB0A1E"/>
          </a:solidFill>
          <a:ln w="12700">
            <a:solidFill>
              <a:srgbClr val="EB0A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EB0A1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NAVIGATION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11384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F0F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Contents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434" y="6473952"/>
            <a:ext cx="12161520" cy="384048"/>
          </a:xfrm>
          <a:prstGeom prst="rect">
            <a:avLst/>
          </a:prstGeom>
          <a:solidFill>
            <a:srgbClr val="14141C"/>
          </a:solidFill>
          <a:ln w="12700">
            <a:solidFill>
              <a:srgbClr val="1414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6492240"/>
            <a:ext cx="11384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0607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UAM Corridor Simulation · Toyota/TEMA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02920" y="1417320"/>
            <a:ext cx="2800350" cy="1325880"/>
          </a:xfrm>
          <a:prstGeom prst="rect">
            <a:avLst/>
          </a:prstGeom>
          <a:solidFill>
            <a:srgbClr val="14141C"/>
          </a:solidFill>
          <a:ln w="12700">
            <a:solidFill>
              <a:srgbClr val="1E1E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02920" y="1417320"/>
            <a:ext cx="2800350" cy="54864"/>
          </a:xfrm>
          <a:prstGeom prst="rect">
            <a:avLst/>
          </a:prstGeom>
          <a:solidFill>
            <a:srgbClr val="EB0A1E"/>
          </a:solidFill>
          <a:ln w="12700">
            <a:solidFill>
              <a:srgbClr val="EB0A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94360" y="154533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B0A1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1801368"/>
            <a:ext cx="26174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0F0F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Objective &amp; Architecture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94360" y="2167128"/>
            <a:ext cx="261747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0C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System overview and design goals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2514600"/>
            <a:ext cx="261747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0607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Slides 03–04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440430" y="1417320"/>
            <a:ext cx="2800350" cy="1325880"/>
          </a:xfrm>
          <a:prstGeom prst="rect">
            <a:avLst/>
          </a:prstGeom>
          <a:solidFill>
            <a:srgbClr val="14141C"/>
          </a:solidFill>
          <a:ln w="12700">
            <a:solidFill>
              <a:srgbClr val="1E1E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440430" y="1417320"/>
            <a:ext cx="2800350" cy="54864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531870" y="154533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0A5F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531870" y="1801368"/>
            <a:ext cx="26174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0F0F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Traffic Layer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531870" y="2167128"/>
            <a:ext cx="261747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0C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UAV model, corridor, car-following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531870" y="2514600"/>
            <a:ext cx="261747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0607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Slides 05–07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377940" y="1417320"/>
            <a:ext cx="2800350" cy="1325880"/>
          </a:xfrm>
          <a:prstGeom prst="rect">
            <a:avLst/>
          </a:prstGeom>
          <a:solidFill>
            <a:srgbClr val="14141C"/>
          </a:solidFill>
          <a:ln w="12700">
            <a:solidFill>
              <a:srgbClr val="1E1E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377940" y="1417320"/>
            <a:ext cx="2800350" cy="5486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469380" y="154533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4D39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69380" y="1801368"/>
            <a:ext cx="26174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0F0F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Infrastructure Layer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469380" y="2167128"/>
            <a:ext cx="261747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0C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Base stations, placement, M/M/1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469380" y="2514600"/>
            <a:ext cx="261747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0607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Slides 08–10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9315450" y="1417320"/>
            <a:ext cx="2800350" cy="1325880"/>
          </a:xfrm>
          <a:prstGeom prst="rect">
            <a:avLst/>
          </a:prstGeom>
          <a:solidFill>
            <a:srgbClr val="14141C"/>
          </a:solidFill>
          <a:ln w="12700">
            <a:solidFill>
              <a:srgbClr val="1E1E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9315450" y="1417320"/>
            <a:ext cx="280035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9406890" y="154533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04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406890" y="1801368"/>
            <a:ext cx="26174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0F0F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Network Layer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9406890" y="2167128"/>
            <a:ext cx="261747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0C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Messages, RTT, handoff algorithm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9406890" y="2514600"/>
            <a:ext cx="261747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0607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Slides 11–13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502920" y="2880360"/>
            <a:ext cx="2800350" cy="1325880"/>
          </a:xfrm>
          <a:prstGeom prst="rect">
            <a:avLst/>
          </a:prstGeom>
          <a:solidFill>
            <a:srgbClr val="14141C"/>
          </a:solidFill>
          <a:ln w="12700">
            <a:solidFill>
              <a:srgbClr val="1E1E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502920" y="2880360"/>
            <a:ext cx="2800350" cy="5486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94360" y="300837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78BF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05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94360" y="3264408"/>
            <a:ext cx="26174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0F0F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KPI Definitions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594360" y="3630168"/>
            <a:ext cx="261747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0C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Safety and performance metrics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94360" y="3977640"/>
            <a:ext cx="261747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0607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Slides 14–15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3440430" y="2880360"/>
            <a:ext cx="2800350" cy="1325880"/>
          </a:xfrm>
          <a:prstGeom prst="rect">
            <a:avLst/>
          </a:prstGeom>
          <a:solidFill>
            <a:srgbClr val="14141C"/>
          </a:solidFill>
          <a:ln w="12700">
            <a:solidFill>
              <a:srgbClr val="1E1E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3440430" y="2880360"/>
            <a:ext cx="2800350" cy="54864"/>
          </a:xfrm>
          <a:prstGeom prst="rect">
            <a:avLst/>
          </a:prstGeom>
          <a:solidFill>
            <a:srgbClr val="EB0A1E"/>
          </a:solidFill>
          <a:ln w="12700">
            <a:solidFill>
              <a:srgbClr val="EB0A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3531870" y="300837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B0A1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06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3531870" y="3264408"/>
            <a:ext cx="26174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0F0F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Scenarios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3531870" y="3630168"/>
            <a:ext cx="261747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0C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4 prototype experiments and results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531870" y="3977640"/>
            <a:ext cx="261747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0607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Slides 16–20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6377940" y="2880360"/>
            <a:ext cx="2800350" cy="1325880"/>
          </a:xfrm>
          <a:prstGeom prst="rect">
            <a:avLst/>
          </a:prstGeom>
          <a:solidFill>
            <a:srgbClr val="14141C"/>
          </a:solidFill>
          <a:ln w="12700">
            <a:solidFill>
              <a:srgbClr val="1E1E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6377940" y="2880360"/>
            <a:ext cx="2800350" cy="54864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6469380" y="300837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0A5F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07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469380" y="3264408"/>
            <a:ext cx="26174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0F0F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Validation &amp; Roadmap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6469380" y="3630168"/>
            <a:ext cx="261747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0C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Limitations and next steps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469380" y="3977640"/>
            <a:ext cx="261747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0607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Slides 21–22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9315450" y="2880360"/>
            <a:ext cx="2800350" cy="1325880"/>
          </a:xfrm>
          <a:prstGeom prst="rect">
            <a:avLst/>
          </a:prstGeom>
          <a:solidFill>
            <a:srgbClr val="14141C"/>
          </a:solidFill>
          <a:ln w="12700">
            <a:solidFill>
              <a:srgbClr val="1E1E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9315450" y="2880360"/>
            <a:ext cx="2800350" cy="54864"/>
          </a:xfrm>
          <a:prstGeom prst="rect">
            <a:avLst/>
          </a:prstGeom>
          <a:solidFill>
            <a:srgbClr val="60607A"/>
          </a:solidFill>
          <a:ln w="12700">
            <a:solidFill>
              <a:srgbClr val="6060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9406890" y="300837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0607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08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9406890" y="3264408"/>
            <a:ext cx="26174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0F0F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Appendix</a:t>
            </a:r>
            <a:endParaRPr lang="en-US" sz="1150" dirty="0"/>
          </a:p>
        </p:txBody>
      </p:sp>
      <p:sp>
        <p:nvSpPr>
          <p:cNvPr id="53" name="Text 51"/>
          <p:cNvSpPr/>
          <p:nvPr/>
        </p:nvSpPr>
        <p:spPr>
          <a:xfrm>
            <a:off x="9406890" y="3630168"/>
            <a:ext cx="261747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0C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Equations and parameter table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9406890" y="3977640"/>
            <a:ext cx="261747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0607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Slides 23–24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" y="685800"/>
            <a:ext cx="73152" cy="5486400"/>
          </a:xfrm>
          <a:prstGeom prst="rect">
            <a:avLst/>
          </a:prstGeom>
          <a:solidFill>
            <a:srgbClr val="EB0A1E"/>
          </a:solidFill>
          <a:ln w="12700">
            <a:solidFill>
              <a:srgbClr val="EB0A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EB0A1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INTRODUCTION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11384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F0F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Research Objective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434" y="6473952"/>
            <a:ext cx="12161520" cy="384048"/>
          </a:xfrm>
          <a:prstGeom prst="rect">
            <a:avLst/>
          </a:prstGeom>
          <a:solidFill>
            <a:srgbClr val="14141C"/>
          </a:solidFill>
          <a:ln w="12700">
            <a:solidFill>
              <a:srgbClr val="1414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6492240"/>
            <a:ext cx="11384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0607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UAM Corridor Simulation · Toyota/TEMA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" y="1371600"/>
            <a:ext cx="11384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F0F0F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Quantify how UAV traffic density and human–control mode transitions stress shared 5G cellular infrastructure — and identify the parameter regimes in which that coupling becomes safety-critical.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02920" y="2148840"/>
            <a:ext cx="11155680" cy="10973"/>
          </a:xfrm>
          <a:prstGeom prst="rect">
            <a:avLst/>
          </a:prstGeom>
          <a:solidFill>
            <a:srgbClr val="1E1E2A"/>
          </a:solidFill>
          <a:ln w="12700">
            <a:solidFill>
              <a:srgbClr val="1E1E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02920" y="2331720"/>
            <a:ext cx="11338560" cy="658368"/>
          </a:xfrm>
          <a:prstGeom prst="rect">
            <a:avLst/>
          </a:prstGeom>
          <a:solidFill>
            <a:srgbClr val="14141C"/>
          </a:solidFill>
          <a:ln w="12700">
            <a:solidFill>
              <a:srgbClr val="1414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02920" y="2331720"/>
            <a:ext cx="54864" cy="658368"/>
          </a:xfrm>
          <a:prstGeom prst="rect">
            <a:avLst/>
          </a:prstGeom>
          <a:solidFill>
            <a:srgbClr val="EB0A1E"/>
          </a:solidFill>
          <a:ln w="12700">
            <a:solidFill>
              <a:srgbClr val="EB0A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67512" y="238658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B0A1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Coupled model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67512" y="264261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0C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Co-simulate UAM kinematics and cellular queuing in a unified discrete-time loop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3081528"/>
            <a:ext cx="11338560" cy="658368"/>
          </a:xfrm>
          <a:prstGeom prst="rect">
            <a:avLst/>
          </a:prstGeom>
          <a:solidFill>
            <a:srgbClr val="14141C"/>
          </a:solidFill>
          <a:ln w="12700">
            <a:solidFill>
              <a:srgbClr val="1414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02920" y="3081528"/>
            <a:ext cx="54864" cy="658368"/>
          </a:xfrm>
          <a:prstGeom prst="rect">
            <a:avLst/>
          </a:prstGeom>
          <a:solidFill>
            <a:srgbClr val="EB0A1E"/>
          </a:solidFill>
          <a:ln w="12700">
            <a:solidFill>
              <a:srgbClr val="EB0A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67512" y="313639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B0A1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HOTL / HWTL stress test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67512" y="3392424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0C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Quantify bandwidth demand spike when aircraft switch from supervisory to manual (video) mode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3831336"/>
            <a:ext cx="11338560" cy="658368"/>
          </a:xfrm>
          <a:prstGeom prst="rect">
            <a:avLst/>
          </a:prstGeom>
          <a:solidFill>
            <a:srgbClr val="14141C"/>
          </a:solidFill>
          <a:ln w="12700">
            <a:solidFill>
              <a:srgbClr val="1414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02920" y="3831336"/>
            <a:ext cx="54864" cy="658368"/>
          </a:xfrm>
          <a:prstGeom prst="rect">
            <a:avLst/>
          </a:prstGeom>
          <a:solidFill>
            <a:srgbClr val="EB0A1E"/>
          </a:solidFill>
          <a:ln w="12700">
            <a:solidFill>
              <a:srgbClr val="EB0A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67512" y="38862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B0A1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Shared infrastructure risk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67512" y="414223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0C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Model terrestrial 5G users competing for the same BS capacity as aerial vehicles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2920" y="4581144"/>
            <a:ext cx="11338560" cy="658368"/>
          </a:xfrm>
          <a:prstGeom prst="rect">
            <a:avLst/>
          </a:prstGeom>
          <a:solidFill>
            <a:srgbClr val="14141C"/>
          </a:solidFill>
          <a:ln w="12700">
            <a:solidFill>
              <a:srgbClr val="1414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02920" y="4581144"/>
            <a:ext cx="54864" cy="658368"/>
          </a:xfrm>
          <a:prstGeom prst="rect">
            <a:avLst/>
          </a:prstGeom>
          <a:solidFill>
            <a:srgbClr val="EB0A1E"/>
          </a:solidFill>
          <a:ln w="12700">
            <a:solidFill>
              <a:srgbClr val="EB0A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67512" y="463600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B0A1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Scenario stress testing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67512" y="4892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0C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Run 4 experiments spanning normal operations through cascade infrastructure failure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" y="685800"/>
            <a:ext cx="73152" cy="5486400"/>
          </a:xfrm>
          <a:prstGeom prst="rect">
            <a:avLst/>
          </a:prstGeom>
          <a:solidFill>
            <a:srgbClr val="EB0A1E"/>
          </a:solidFill>
          <a:ln w="12700">
            <a:solidFill>
              <a:srgbClr val="EB0A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EB0A1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INTRODUCTION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11384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F0F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Simulation Architecture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6473952"/>
            <a:ext cx="12161520" cy="384048"/>
          </a:xfrm>
          <a:prstGeom prst="rect">
            <a:avLst/>
          </a:prstGeom>
          <a:solidFill>
            <a:srgbClr val="14141C"/>
          </a:solidFill>
          <a:ln w="12700">
            <a:solidFill>
              <a:srgbClr val="1414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6492240"/>
            <a:ext cx="11384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0607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UAM Corridor Simulation · Toyota/TEMA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39496" y="1600200"/>
            <a:ext cx="2011680" cy="1463040"/>
          </a:xfrm>
          <a:prstGeom prst="rect">
            <a:avLst/>
          </a:prstGeom>
          <a:solidFill>
            <a:srgbClr val="14141C"/>
          </a:solidFill>
          <a:ln w="12700">
            <a:solidFill>
              <a:srgbClr val="1E1E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39496" y="1600200"/>
            <a:ext cx="2011680" cy="6400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30936" y="1764792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60A5F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649224" y="2185416"/>
            <a:ext cx="1810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0F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Position Update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9224" y="2551176"/>
            <a:ext cx="1810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0C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Car-following law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B0B0C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advances all UAMs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587752" y="2322576"/>
            <a:ext cx="201168" cy="0"/>
          </a:xfrm>
          <a:prstGeom prst="line">
            <a:avLst/>
          </a:prstGeom>
          <a:noFill/>
          <a:ln w="19050">
            <a:solidFill>
              <a:srgbClr val="6060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660904" y="2194560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0607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›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807208" y="1600200"/>
            <a:ext cx="2011680" cy="1463040"/>
          </a:xfrm>
          <a:prstGeom prst="rect">
            <a:avLst/>
          </a:prstGeom>
          <a:solidFill>
            <a:srgbClr val="14141C"/>
          </a:solidFill>
          <a:ln w="12700">
            <a:solidFill>
              <a:srgbClr val="1E1E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807208" y="1600200"/>
            <a:ext cx="2011680" cy="6400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898648" y="1764792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A78BF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2916936" y="2185416"/>
            <a:ext cx="1810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0F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Mode Switching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916936" y="2551176"/>
            <a:ext cx="1810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0C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Poisson timers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B0B0C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HOTL ↔ HWTL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855464" y="2322576"/>
            <a:ext cx="201168" cy="0"/>
          </a:xfrm>
          <a:prstGeom prst="line">
            <a:avLst/>
          </a:prstGeom>
          <a:noFill/>
          <a:ln w="19050">
            <a:solidFill>
              <a:srgbClr val="6060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928616" y="2194560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0607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›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074920" y="1600200"/>
            <a:ext cx="2011680" cy="1463040"/>
          </a:xfrm>
          <a:prstGeom prst="rect">
            <a:avLst/>
          </a:prstGeom>
          <a:solidFill>
            <a:srgbClr val="14141C"/>
          </a:solidFill>
          <a:ln w="12700">
            <a:solidFill>
              <a:srgbClr val="1E1E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074920" y="1600200"/>
            <a:ext cx="2011680" cy="6400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166360" y="1764792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4D39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5184648" y="2185416"/>
            <a:ext cx="1810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0F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Coverage &amp; Handoff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184648" y="2551176"/>
            <a:ext cx="1810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0C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Nearest-BS assignment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B0B0C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hysteresis check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123176" y="2322576"/>
            <a:ext cx="201168" cy="0"/>
          </a:xfrm>
          <a:prstGeom prst="line">
            <a:avLst/>
          </a:prstGeom>
          <a:noFill/>
          <a:ln w="19050">
            <a:solidFill>
              <a:srgbClr val="6060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196328" y="2194560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0607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›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7342632" y="1600200"/>
            <a:ext cx="2011680" cy="1463040"/>
          </a:xfrm>
          <a:prstGeom prst="rect">
            <a:avLst/>
          </a:prstGeom>
          <a:solidFill>
            <a:srgbClr val="14141C"/>
          </a:solidFill>
          <a:ln w="12700">
            <a:solidFill>
              <a:srgbClr val="1E1E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7342632" y="1600200"/>
            <a:ext cx="201168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434072" y="1764792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59E0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4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7452360" y="2185416"/>
            <a:ext cx="1810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0F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Traffic &amp; Queuing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452360" y="2551176"/>
            <a:ext cx="1810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0C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M/M/1 queuing delay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B0B0C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RTT computation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9390888" y="2322576"/>
            <a:ext cx="201168" cy="0"/>
          </a:xfrm>
          <a:prstGeom prst="line">
            <a:avLst/>
          </a:prstGeom>
          <a:noFill/>
          <a:ln w="19050">
            <a:solidFill>
              <a:srgbClr val="6060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9464040" y="2194560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0607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›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9610344" y="1600200"/>
            <a:ext cx="2011680" cy="1463040"/>
          </a:xfrm>
          <a:prstGeom prst="rect">
            <a:avLst/>
          </a:prstGeom>
          <a:solidFill>
            <a:srgbClr val="14141C"/>
          </a:solidFill>
          <a:ln w="12700">
            <a:solidFill>
              <a:srgbClr val="1E1E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9610344" y="1600200"/>
            <a:ext cx="2011680" cy="64008"/>
          </a:xfrm>
          <a:prstGeom prst="rect">
            <a:avLst/>
          </a:prstGeom>
          <a:solidFill>
            <a:srgbClr val="EB0A1E"/>
          </a:solidFill>
          <a:ln w="12700">
            <a:solidFill>
              <a:srgbClr val="EB0A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9701784" y="1764792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B0A1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5</a:t>
            </a:r>
            <a:endParaRPr lang="en-US" sz="2600" dirty="0"/>
          </a:p>
        </p:txBody>
      </p:sp>
      <p:sp>
        <p:nvSpPr>
          <p:cNvPr id="38" name="Text 36"/>
          <p:cNvSpPr/>
          <p:nvPr/>
        </p:nvSpPr>
        <p:spPr>
          <a:xfrm>
            <a:off x="9720072" y="2185416"/>
            <a:ext cx="1810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0F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KPI Recording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9720072" y="2551176"/>
            <a:ext cx="1810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0C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Time-series metrics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B0B0C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written to collector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02920" y="3337560"/>
            <a:ext cx="11155680" cy="10973"/>
          </a:xfrm>
          <a:prstGeom prst="rect">
            <a:avLst/>
          </a:prstGeom>
          <a:solidFill>
            <a:srgbClr val="1E1E2A"/>
          </a:solidFill>
          <a:ln w="12700">
            <a:solidFill>
              <a:srgbClr val="1E1E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502920" y="3794760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B0C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Each step repeats in strict sequential order; no sub-stepping or parallelism.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" y="685800"/>
            <a:ext cx="73152" cy="5486400"/>
          </a:xfrm>
          <a:prstGeom prst="rect">
            <a:avLst/>
          </a:prstGeom>
          <a:solidFill>
            <a:srgbClr val="EB0A1E"/>
          </a:solidFill>
          <a:ln w="12700">
            <a:solidFill>
              <a:srgbClr val="EB0A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EB0A1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TRAFFIC LAYER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11384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F0F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Corridor Definition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6473952"/>
            <a:ext cx="12161520" cy="384048"/>
          </a:xfrm>
          <a:prstGeom prst="rect">
            <a:avLst/>
          </a:prstGeom>
          <a:solidFill>
            <a:srgbClr val="14141C"/>
          </a:solidFill>
          <a:ln w="12700">
            <a:solidFill>
              <a:srgbClr val="1414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6492240"/>
            <a:ext cx="11384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0607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UAM Corridor Simulation · Toyota/TEMA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02920" y="1371600"/>
            <a:ext cx="5486400" cy="3200400"/>
          </a:xfrm>
          <a:prstGeom prst="rect">
            <a:avLst/>
          </a:prstGeom>
          <a:solidFill>
            <a:srgbClr val="14141C"/>
          </a:solidFill>
          <a:ln w="12700">
            <a:solidFill>
              <a:srgbClr val="1414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71600"/>
          <a:ext cx="5486400" cy="16002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0F0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Parameter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000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0F0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Symbol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000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0F0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Value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000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Corridor length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L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80,000 m (80 km)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Cruise altitude AGL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h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300 m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Vertical band thickness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Δh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33 m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Number of lanes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Nℓ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1 (baseline), 2 (high-density)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Origin hub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SF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x = 0 m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Destination hub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SJ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x = L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263640" y="1371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0F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SF–SJ Corridor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263640" y="1920240"/>
            <a:ext cx="5029200" cy="502920"/>
          </a:xfrm>
          <a:prstGeom prst="rect">
            <a:avLst/>
          </a:prstGeom>
          <a:solidFill>
            <a:srgbClr val="1E1E2A"/>
          </a:solidFill>
          <a:ln w="6350">
            <a:solidFill>
              <a:srgbClr val="6060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336792" y="202996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0607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Lane 0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6245352" y="248716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B0A1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SF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11064240" y="248716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B0A1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SJ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6263640" y="2450592"/>
            <a:ext cx="5029200" cy="0"/>
          </a:xfrm>
          <a:prstGeom prst="line">
            <a:avLst/>
          </a:prstGeom>
          <a:noFill/>
          <a:ln w="6350">
            <a:solidFill>
              <a:srgbClr val="60607A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6263640" y="2788920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0C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 = 300 m AGL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6263640" y="3017520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0607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80 km →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6263640" y="3200400"/>
            <a:ext cx="5486400" cy="10973"/>
          </a:xfrm>
          <a:prstGeom prst="rect">
            <a:avLst/>
          </a:prstGeom>
          <a:solidFill>
            <a:srgbClr val="1E1E2A"/>
          </a:solidFill>
          <a:ln w="12700">
            <a:solidFill>
              <a:srgbClr val="1E1E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6263640" y="3337560"/>
            <a:ext cx="5486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B0C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Boundary condition: UAMs wrap around at x = L (continuous-flow).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B0B0C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Lateral lane position is a discrete integer label — not geometrically resolved.</a:t>
            </a:r>
            <a:endParaRPr lang="en-US" sz="105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3770ED39-A0D4-2849-5FEE-09EC87AEFE9A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70000" contrast="-70000"/>
          </a:blip>
          <a:stretch>
            <a:fillRect/>
          </a:stretch>
        </p:blipFill>
        <p:spPr>
          <a:xfrm>
            <a:off x="6954097" y="1987324"/>
            <a:ext cx="367256" cy="367256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61BBB058-B4EC-D754-B24E-7AB42EA9350E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70000" contrast="-70000"/>
          </a:blip>
          <a:stretch>
            <a:fillRect/>
          </a:stretch>
        </p:blipFill>
        <p:spPr>
          <a:xfrm>
            <a:off x="7851317" y="1987324"/>
            <a:ext cx="367256" cy="367256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F21ED61B-96ED-64AE-4BFA-63F40D0BB238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70000" contrast="-70000"/>
          </a:blip>
          <a:stretch>
            <a:fillRect/>
          </a:stretch>
        </p:blipFill>
        <p:spPr>
          <a:xfrm>
            <a:off x="8709745" y="1987324"/>
            <a:ext cx="367256" cy="367256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D2383C58-FE6A-A446-F133-AA6449CE5584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70000" contrast="-70000"/>
          </a:blip>
          <a:stretch>
            <a:fillRect/>
          </a:stretch>
        </p:blipFill>
        <p:spPr>
          <a:xfrm>
            <a:off x="9568173" y="1970729"/>
            <a:ext cx="367256" cy="367256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7ACC9DB5-6292-8C88-0A32-DFB489CAC0D3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70000" contrast="-70000"/>
          </a:blip>
          <a:stretch>
            <a:fillRect/>
          </a:stretch>
        </p:blipFill>
        <p:spPr>
          <a:xfrm>
            <a:off x="10426601" y="1988836"/>
            <a:ext cx="367256" cy="36725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" y="685800"/>
            <a:ext cx="73152" cy="5486400"/>
          </a:xfrm>
          <a:prstGeom prst="rect">
            <a:avLst/>
          </a:prstGeom>
          <a:solidFill>
            <a:srgbClr val="EB0A1E"/>
          </a:solidFill>
          <a:ln w="12700">
            <a:solidFill>
              <a:srgbClr val="EB0A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EB0A1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TRAFFIC LAYER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11384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F0F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UAV Kinematic Model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6473952"/>
            <a:ext cx="12161520" cy="384048"/>
          </a:xfrm>
          <a:prstGeom prst="rect">
            <a:avLst/>
          </a:prstGeom>
          <a:solidFill>
            <a:srgbClr val="14141C"/>
          </a:solidFill>
          <a:ln w="12700">
            <a:solidFill>
              <a:srgbClr val="1414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6492240"/>
            <a:ext cx="11384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0607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UAM Corridor Simulation · Toyota/TEMA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" y="138988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0F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State vector per vehicle i: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80" y="1673352"/>
            <a:ext cx="5303520" cy="438912"/>
          </a:xfrm>
          <a:prstGeom prst="rect">
            <a:avLst/>
          </a:prstGeom>
          <a:solidFill>
            <a:srgbClr val="1A1A2C"/>
          </a:solidFill>
          <a:ln w="12700">
            <a:solidFill>
              <a:srgbClr val="5C00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" y="171907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(xᵢ, vᵢ, modeᵢ, BSᵢ)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224028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0F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Uniform spawn: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11480" y="2496312"/>
            <a:ext cx="5212080" cy="438912"/>
          </a:xfrm>
          <a:prstGeom prst="rect">
            <a:avLst/>
          </a:prstGeom>
          <a:solidFill>
            <a:srgbClr val="1A1A2C"/>
          </a:solidFill>
          <a:ln w="12700">
            <a:solidFill>
              <a:srgbClr val="5C00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2920" y="254203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xᵢ(0) = L / (N+1) × i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11480" y="2916936"/>
            <a:ext cx="5212080" cy="438912"/>
          </a:xfrm>
          <a:prstGeom prst="rect">
            <a:avLst/>
          </a:prstGeom>
          <a:solidFill>
            <a:srgbClr val="1A1A2C"/>
          </a:solidFill>
          <a:ln w="12700">
            <a:solidFill>
              <a:srgbClr val="5C00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" y="2962656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vᵢ(0) ~ min(Uniform(v_min, </a:t>
            </a:r>
            <a:r>
              <a:rPr lang="en-US" sz="1250" dirty="0" err="1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v_max</a:t>
            </a:r>
            <a:r>
              <a:rPr lang="en-US" sz="12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), (</a:t>
            </a:r>
            <a:r>
              <a:rPr lang="en-US" sz="12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r>
              <a:rPr lang="en-US" sz="1200" baseline="-250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i-1</a:t>
            </a:r>
            <a:r>
              <a:rPr lang="en-US" sz="12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(0)- xᵢ(0))/</a:t>
            </a:r>
            <a:r>
              <a:rPr lang="en-US" sz="12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dirty="0" err="1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τ_min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02920" y="3456432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0F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Car-following law: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" y="3749040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0607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Leader (free-flow):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11480" y="3950208"/>
            <a:ext cx="5303520" cy="420624"/>
          </a:xfrm>
          <a:prstGeom prst="rect">
            <a:avLst/>
          </a:prstGeom>
          <a:solidFill>
            <a:srgbClr val="1A1A2C"/>
          </a:solidFill>
          <a:ln w="12700">
            <a:solidFill>
              <a:srgbClr val="5C00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02920" y="3995928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x_lead(t+Δt) = x_lead(t) + v_lead × Δt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02920" y="4407408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0607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Follower (if gap &lt; vᵢ × τ_min):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11480" y="4617720"/>
            <a:ext cx="5212080" cy="420624"/>
          </a:xfrm>
          <a:prstGeom prst="rect">
            <a:avLst/>
          </a:prstGeom>
          <a:solidFill>
            <a:srgbClr val="1A1A2C"/>
          </a:solidFill>
          <a:ln w="12700">
            <a:solidFill>
              <a:srgbClr val="5C00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02920" y="466344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vᵢ* = max(Δx / τ_min, 0)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11480" y="5010912"/>
            <a:ext cx="5212080" cy="420624"/>
          </a:xfrm>
          <a:prstGeom prst="rect">
            <a:avLst/>
          </a:prstGeom>
          <a:solidFill>
            <a:srgbClr val="1A1A2C"/>
          </a:solidFill>
          <a:ln w="12700">
            <a:solidFill>
              <a:srgbClr val="5C00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02920" y="5056632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xᵢ(t+Δt) = xᵢ(t) + vᵢ × Δt</a:t>
            </a:r>
            <a:endParaRPr lang="en-US" sz="125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881937"/>
              </p:ext>
            </p:extLst>
          </p:nvPr>
        </p:nvGraphicFramePr>
        <p:xfrm>
          <a:off x="6172200" y="1389887"/>
          <a:ext cx="5608320" cy="1345430"/>
        </p:xfrm>
        <a:graphic>
          <a:graphicData uri="http://schemas.openxmlformats.org/drawingml/2006/table">
            <a:tbl>
              <a:tblPr/>
              <a:tblGrid>
                <a:gridCol w="21679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26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68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68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40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690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0F0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Scenario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000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0F0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N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000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0F0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v_min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000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0F0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v_max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000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0F0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τ_min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000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90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Baseline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50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40 m/s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60 m/s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5 s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90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High density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150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35 m/s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55 m/s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3 s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90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Freq. switches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80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40 m/s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60 m/s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5 s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90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Cascade failure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60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40 m/s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55 m/s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5 s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5" name="Text 22"/>
          <p:cNvSpPr/>
          <p:nvPr/>
        </p:nvSpPr>
        <p:spPr>
          <a:xfrm>
            <a:off x="6172200" y="34747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0F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Separation Metric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080760" y="3758184"/>
            <a:ext cx="6035040" cy="438912"/>
          </a:xfrm>
          <a:prstGeom prst="rect">
            <a:avLst/>
          </a:prstGeom>
          <a:solidFill>
            <a:srgbClr val="1A1A2C"/>
          </a:solidFill>
          <a:ln w="12700">
            <a:solidFill>
              <a:srgbClr val="5C00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6172200" y="3803904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T_sep,i = (x_{i+1} - x_i) / v_i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6172200" y="4251960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0C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Violation recorded when T_sep,i &lt; τ_viol = 2.0 s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6172200" y="4617720"/>
            <a:ext cx="5852160" cy="10973"/>
          </a:xfrm>
          <a:prstGeom prst="rect">
            <a:avLst/>
          </a:prstGeom>
          <a:solidFill>
            <a:srgbClr val="1E1E2A"/>
          </a:solidFill>
          <a:ln w="12700">
            <a:solidFill>
              <a:srgbClr val="1E1E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6172200" y="4736592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607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Known limitation: instantaneous speed adjustment (no inertia).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0607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Planned replacement: IDM or eVTOL thrust/drag model.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" y="685800"/>
            <a:ext cx="73152" cy="5486400"/>
          </a:xfrm>
          <a:prstGeom prst="rect">
            <a:avLst/>
          </a:prstGeom>
          <a:solidFill>
            <a:srgbClr val="EB0A1E"/>
          </a:solidFill>
          <a:ln w="12700">
            <a:solidFill>
              <a:srgbClr val="EB0A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EB0A1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TRAFFIC LAYER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11384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F0F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Human–Control Mode Switching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6473952"/>
            <a:ext cx="12161520" cy="384048"/>
          </a:xfrm>
          <a:prstGeom prst="rect">
            <a:avLst/>
          </a:prstGeom>
          <a:solidFill>
            <a:srgbClr val="14141C"/>
          </a:solidFill>
          <a:ln w="12700">
            <a:solidFill>
              <a:srgbClr val="1414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6492240"/>
            <a:ext cx="11384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0607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UAM Corridor Simulation · Toyota/TEMA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02920" y="1371600"/>
            <a:ext cx="3840480" cy="1554480"/>
          </a:xfrm>
          <a:prstGeom prst="rect">
            <a:avLst/>
          </a:prstGeom>
          <a:solidFill>
            <a:srgbClr val="14141C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146304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60A5F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HOTL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0080" y="1810512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607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Human-Over-The-Loop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2084832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0C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Automation manages flight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B0B0C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Human monitors only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260604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35 kbps telemetry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17720" y="1371600"/>
            <a:ext cx="3840480" cy="1554480"/>
          </a:xfrm>
          <a:prstGeom prst="rect">
            <a:avLst/>
          </a:prstGeom>
          <a:solidFill>
            <a:srgbClr val="14141C"/>
          </a:solidFill>
          <a:ln w="12700">
            <a:solidFill>
              <a:srgbClr val="EB0A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754880" y="146304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B0A1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HWTL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754880" y="1810512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607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Human-Within-The-Loop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754880" y="2084832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0C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Human actively pilots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B0B0C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via live video feed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54880" y="260604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B0A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Mbps video stream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343400" y="187452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59E0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↔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8686800" y="1371600"/>
            <a:ext cx="3474720" cy="1554480"/>
          </a:xfrm>
          <a:prstGeom prst="rect">
            <a:avLst/>
          </a:prstGeom>
          <a:solidFill>
            <a:srgbClr val="1A1A2C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778240" y="1481328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59E0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~100×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8778240" y="21031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B0C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bandwidth ratio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B0B0C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HWTL vs HOTL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2920" y="3108960"/>
            <a:ext cx="11155680" cy="10973"/>
          </a:xfrm>
          <a:prstGeom prst="rect">
            <a:avLst/>
          </a:prstGeom>
          <a:solidFill>
            <a:srgbClr val="1E1E2A"/>
          </a:solidFill>
          <a:ln w="12700">
            <a:solidFill>
              <a:srgbClr val="1E1E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02920" y="32735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0F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Poisson Mode-Switch Model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11480" y="3557016"/>
            <a:ext cx="5852160" cy="438912"/>
          </a:xfrm>
          <a:prstGeom prst="rect">
            <a:avLst/>
          </a:prstGeom>
          <a:solidFill>
            <a:srgbClr val="1A1A2C"/>
          </a:solidFill>
          <a:ln w="12700">
            <a:solidFill>
              <a:srgbClr val="5C00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02920" y="3602736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T_switch ~ Exp(λ),   λ = λ_hr / 3600 [s⁻¹]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11480" y="3977640"/>
            <a:ext cx="5852160" cy="438912"/>
          </a:xfrm>
          <a:prstGeom prst="rect">
            <a:avLst/>
          </a:prstGeom>
          <a:solidFill>
            <a:srgbClr val="1A1A2C"/>
          </a:solidFill>
          <a:ln w="12700">
            <a:solidFill>
              <a:srgbClr val="5C00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02920" y="402336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D_HWTL ~ Exp(μ),      μ = 1 / d̅ [s⁻¹]</a:t>
            </a:r>
            <a:endParaRPr lang="en-US" sz="13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4572000"/>
          <a:ext cx="5760720" cy="91440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0F0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Scenario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000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0F0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λ_hr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000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0F0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Mean HWTL duration d̅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000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Baseline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0.5 / UAM / hr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60 s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Frequent switches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5.0 / UAM / hr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45 s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Cascade failure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8.0 / UAM / hr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90 s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8" name="Text 25"/>
          <p:cNvSpPr/>
          <p:nvPr/>
        </p:nvSpPr>
        <p:spPr>
          <a:xfrm>
            <a:off x="6446520" y="3310128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B0C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Also supported: zone-based triggers (hot-zones near hubs with per-step switch probability p_zone × Δt)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6355080" y="3749040"/>
            <a:ext cx="5943600" cy="438912"/>
          </a:xfrm>
          <a:prstGeom prst="rect">
            <a:avLst/>
          </a:prstGeom>
          <a:solidFill>
            <a:srgbClr val="1A1A2C"/>
          </a:solidFill>
          <a:ln w="12700">
            <a:solidFill>
              <a:srgbClr val="5C00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6446520" y="379476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E[concurrent HWTL/BS] = (λ_hr/3600) × d̅ × N_BS</a:t>
            </a:r>
            <a:endParaRPr lang="en-US" sz="1250" dirty="0"/>
          </a:p>
        </p:txBody>
      </p:sp>
      <p:sp>
        <p:nvSpPr>
          <p:cNvPr id="31" name="Text 28"/>
          <p:cNvSpPr/>
          <p:nvPr/>
        </p:nvSpPr>
        <p:spPr>
          <a:xfrm>
            <a:off x="6446520" y="4251960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9E0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Cascade scenario: (8/3600) × 90 × 10 ≈ 2 concurrent HWTL per BS → ρ ≈ 63%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" y="685800"/>
            <a:ext cx="73152" cy="5486400"/>
          </a:xfrm>
          <a:prstGeom prst="rect">
            <a:avLst/>
          </a:prstGeom>
          <a:solidFill>
            <a:srgbClr val="EB0A1E"/>
          </a:solidFill>
          <a:ln w="12700">
            <a:solidFill>
              <a:srgbClr val="EB0A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EB0A1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INFRASTRUCTURE LAYER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11384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F0F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Base Station Specifications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6473952"/>
            <a:ext cx="12161520" cy="384048"/>
          </a:xfrm>
          <a:prstGeom prst="rect">
            <a:avLst/>
          </a:prstGeom>
          <a:solidFill>
            <a:srgbClr val="14141C"/>
          </a:solidFill>
          <a:ln w="12700">
            <a:solidFill>
              <a:srgbClr val="1414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6492240"/>
            <a:ext cx="11384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0607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UAM Corridor Simulation · Toyota/TEMA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" y="1389888"/>
            <a:ext cx="11384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B0B0C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Each BS abstracts a 5G NR gNB ground node with fixed bandwidth capacity and an M/M/1 uplink queue.</a:t>
            </a:r>
            <a:endParaRPr lang="en-US" sz="12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828800"/>
          <a:ext cx="10058400" cy="1653540"/>
        </p:xfrm>
        <a:graphic>
          <a:graphicData uri="http://schemas.openxmlformats.org/drawingml/2006/table">
            <a:tbl>
              <a:tblPr/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0F0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Parameter</a:t>
                      </a:r>
                      <a:endParaRPr lang="en-US" sz="10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000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0F0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Symbol</a:t>
                      </a:r>
                      <a:endParaRPr lang="en-US" sz="10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000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0F0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Baseline</a:t>
                      </a:r>
                      <a:endParaRPr lang="en-US" sz="10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000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0F0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High Density</a:t>
                      </a:r>
                      <a:endParaRPr lang="en-US" sz="10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000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0F0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Cascade Failure</a:t>
                      </a:r>
                      <a:endParaRPr lang="en-US" sz="10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000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Number of BS</a:t>
                      </a:r>
                      <a:endParaRPr lang="en-US" sz="10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M</a:t>
                      </a:r>
                      <a:endParaRPr lang="en-US" sz="10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16</a:t>
                      </a:r>
                      <a:endParaRPr lang="en-US" sz="10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16</a:t>
                      </a:r>
                      <a:endParaRPr lang="en-US" sz="10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6</a:t>
                      </a:r>
                      <a:endParaRPr lang="en-US" sz="10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BS capacity</a:t>
                      </a:r>
                      <a:endParaRPr lang="en-US" sz="10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C</a:t>
                      </a:r>
                      <a:endParaRPr lang="en-US" sz="10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100 Mbps</a:t>
                      </a:r>
                      <a:endParaRPr lang="en-US" sz="10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50 Mbps</a:t>
                      </a:r>
                      <a:endParaRPr lang="en-US" sz="10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20 Mbps</a:t>
                      </a:r>
                      <a:endParaRPr lang="en-US" sz="10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Good-coverage radius</a:t>
                      </a:r>
                      <a:endParaRPr lang="en-US" sz="10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r_good</a:t>
                      </a:r>
                      <a:endParaRPr lang="en-US" sz="10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3,000 m</a:t>
                      </a:r>
                      <a:endParaRPr lang="en-US" sz="10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3,000 m</a:t>
                      </a:r>
                      <a:endParaRPr lang="en-US" sz="10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5,000 m</a:t>
                      </a:r>
                      <a:endParaRPr lang="en-US" sz="10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Degraded-coverage radius</a:t>
                      </a:r>
                      <a:endParaRPr lang="en-US" sz="10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r_deg</a:t>
                      </a:r>
                      <a:endParaRPr lang="en-US" sz="10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6,000 m</a:t>
                      </a:r>
                      <a:endParaRPr lang="en-US" sz="10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6,000 m</a:t>
                      </a:r>
                      <a:endParaRPr lang="en-US" sz="10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9,000 m</a:t>
                      </a:r>
                      <a:endParaRPr lang="en-US" sz="10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Message buffer capacity</a:t>
                      </a:r>
                      <a:endParaRPr lang="en-US" sz="10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B</a:t>
                      </a:r>
                      <a:endParaRPr lang="en-US" sz="10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500 msgs</a:t>
                      </a:r>
                      <a:endParaRPr lang="en-US" sz="10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300 msgs</a:t>
                      </a:r>
                      <a:endParaRPr lang="en-US" sz="10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500 msgs</a:t>
                      </a:r>
                      <a:endParaRPr lang="en-US" sz="10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BS spacing (uniform)</a:t>
                      </a:r>
                      <a:endParaRPr lang="en-US" sz="10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Δx</a:t>
                      </a:r>
                      <a:endParaRPr lang="en-US" sz="10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≈4,706 m</a:t>
                      </a:r>
                      <a:endParaRPr lang="en-US" sz="10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≈4,706 m</a:t>
                      </a:r>
                      <a:endParaRPr lang="en-US" sz="10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≈11,429 m</a:t>
                      </a:r>
                      <a:endParaRPr lang="en-US" sz="10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Shape 6"/>
          <p:cNvSpPr/>
          <p:nvPr/>
        </p:nvSpPr>
        <p:spPr>
          <a:xfrm>
            <a:off x="502920" y="4206240"/>
            <a:ext cx="11155680" cy="10973"/>
          </a:xfrm>
          <a:prstGeom prst="rect">
            <a:avLst/>
          </a:prstGeom>
          <a:solidFill>
            <a:srgbClr val="1E1E2A"/>
          </a:solidFill>
          <a:ln w="12700">
            <a:solidFill>
              <a:srgbClr val="1E1E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02920" y="43434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0F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Coverage quality: 3-tier threshold on 3D Euclidean distance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02920" y="4663440"/>
            <a:ext cx="3383280" cy="658368"/>
          </a:xfrm>
          <a:prstGeom prst="rect">
            <a:avLst/>
          </a:prstGeom>
          <a:solidFill>
            <a:srgbClr val="14141C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40080" y="473659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4D39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Good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40080" y="502920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B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 ≤ r_good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160520" y="4663440"/>
            <a:ext cx="3383280" cy="658368"/>
          </a:xfrm>
          <a:prstGeom prst="rect">
            <a:avLst/>
          </a:prstGeom>
          <a:solidFill>
            <a:srgbClr val="14141C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4297680" y="473659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Degraded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297680" y="502920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B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r_good &lt; d ≤ r_deg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7818120" y="4663440"/>
            <a:ext cx="3383280" cy="658368"/>
          </a:xfrm>
          <a:prstGeom prst="rect">
            <a:avLst/>
          </a:prstGeom>
          <a:solidFill>
            <a:srgbClr val="14141C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7955280" y="473659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717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None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7955280" y="502920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B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 &gt; r_deg (coverage gap)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" y="685800"/>
            <a:ext cx="73152" cy="5486400"/>
          </a:xfrm>
          <a:prstGeom prst="rect">
            <a:avLst/>
          </a:prstGeom>
          <a:solidFill>
            <a:srgbClr val="EB0A1E"/>
          </a:solidFill>
          <a:ln w="12700">
            <a:solidFill>
              <a:srgbClr val="EB0A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EB0A1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INFRASTRUCTURE LAYER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11384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F0F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Infrastructure Placement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6473952"/>
            <a:ext cx="12161520" cy="384048"/>
          </a:xfrm>
          <a:prstGeom prst="rect">
            <a:avLst/>
          </a:prstGeom>
          <a:solidFill>
            <a:srgbClr val="14141C"/>
          </a:solidFill>
          <a:ln w="12700">
            <a:solidFill>
              <a:srgbClr val="1414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6492240"/>
            <a:ext cx="11384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0607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UAM Corridor Simulation · Toyota/TEMA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" y="13898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0F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Placement equations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1480" y="1673352"/>
            <a:ext cx="6126480" cy="457200"/>
          </a:xfrm>
          <a:prstGeom prst="rect">
            <a:avLst/>
          </a:prstGeom>
          <a:solidFill>
            <a:srgbClr val="1A1A2C"/>
          </a:solidFill>
          <a:ln w="12700">
            <a:solidFill>
              <a:srgbClr val="5C00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" y="1719072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x_jᴵˢ = (L / (M+1)) × j,   j = 1, ..., M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2112264"/>
            <a:ext cx="6126480" cy="457200"/>
          </a:xfrm>
          <a:prstGeom prst="rect">
            <a:avLst/>
          </a:prstGeom>
          <a:solidFill>
            <a:srgbClr val="1A1A2C"/>
          </a:solidFill>
          <a:ln w="12700">
            <a:solidFill>
              <a:srgbClr val="5C00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2157984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y_jᴵˢ = 500 m  (lateral offset from corridor)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02920" y="269748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0F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3D UAM–BS distance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11480" y="2971800"/>
            <a:ext cx="6583680" cy="457200"/>
          </a:xfrm>
          <a:prstGeom prst="rect">
            <a:avLst/>
          </a:prstGeom>
          <a:solidFill>
            <a:srgbClr val="1A1A2C"/>
          </a:solidFill>
          <a:ln w="12700">
            <a:solidFill>
              <a:srgbClr val="5C00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" y="301752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d_ij = √[ (x_jᴵˢ - x_i)² + (y_jᴵˢ)² + h² ]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3474720"/>
            <a:ext cx="6400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0607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UAM y-position projected to corridor centerline (y_UAM = 0)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02920" y="3794760"/>
            <a:ext cx="6400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0C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BS–GCS backhaul: always up, RTT_bh = 10 ms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086600" y="1389888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0607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Corridor cross-section view (not to scale)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086600" y="2194560"/>
            <a:ext cx="5029200" cy="384048"/>
          </a:xfrm>
          <a:prstGeom prst="rect">
            <a:avLst/>
          </a:prstGeom>
          <a:solidFill>
            <a:srgbClr val="1E1E2A"/>
          </a:solidFill>
          <a:ln w="6350">
            <a:solidFill>
              <a:srgbClr val="6060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178040" y="225856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0607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Corridor  (h = 300 m AGL)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452360" y="2286000"/>
            <a:ext cx="201168" cy="201168"/>
          </a:xfrm>
          <a:prstGeom prst="line">
            <a:avLst/>
          </a:prstGeom>
          <a:solidFill>
            <a:srgbClr val="EB0A1E"/>
          </a:solidFill>
          <a:ln w="12700">
            <a:solidFill>
              <a:srgbClr val="EB0A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8275320" y="2286000"/>
            <a:ext cx="201168" cy="201168"/>
          </a:xfrm>
          <a:prstGeom prst="line">
            <a:avLst/>
          </a:prstGeom>
          <a:solidFill>
            <a:srgbClr val="EB0A1E"/>
          </a:solidFill>
          <a:ln w="12700">
            <a:solidFill>
              <a:srgbClr val="EB0A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9098280" y="2286000"/>
            <a:ext cx="201168" cy="201168"/>
          </a:xfrm>
          <a:prstGeom prst="line">
            <a:avLst/>
          </a:prstGeom>
          <a:solidFill>
            <a:srgbClr val="EB0A1E"/>
          </a:solidFill>
          <a:ln w="12700">
            <a:solidFill>
              <a:srgbClr val="EB0A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9921240" y="2286000"/>
            <a:ext cx="201168" cy="201168"/>
          </a:xfrm>
          <a:prstGeom prst="line">
            <a:avLst/>
          </a:prstGeom>
          <a:solidFill>
            <a:srgbClr val="EB0A1E"/>
          </a:solidFill>
          <a:ln w="12700">
            <a:solidFill>
              <a:srgbClr val="EB0A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10744200" y="2286000"/>
            <a:ext cx="201168" cy="201168"/>
          </a:xfrm>
          <a:prstGeom prst="line">
            <a:avLst/>
          </a:prstGeom>
          <a:solidFill>
            <a:srgbClr val="EB0A1E"/>
          </a:solidFill>
          <a:ln w="12700">
            <a:solidFill>
              <a:srgbClr val="EB0A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7452360" y="3108960"/>
            <a:ext cx="256032" cy="256032"/>
          </a:xfrm>
          <a:prstGeom prst="lin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406640" y="340156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0607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BS1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7580376" y="2578608"/>
            <a:ext cx="0" cy="530352"/>
          </a:xfrm>
          <a:prstGeom prst="line">
            <a:avLst/>
          </a:prstGeom>
          <a:noFill/>
          <a:ln w="6350">
            <a:solidFill>
              <a:srgbClr val="1E1E2A"/>
            </a:solidFill>
            <a:prstDash val="sysDot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8458200" y="3108960"/>
            <a:ext cx="256032" cy="256032"/>
          </a:xfrm>
          <a:prstGeom prst="lin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8412480" y="340156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0607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BS2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8586216" y="2578608"/>
            <a:ext cx="0" cy="530352"/>
          </a:xfrm>
          <a:prstGeom prst="line">
            <a:avLst/>
          </a:prstGeom>
          <a:noFill/>
          <a:ln w="6350">
            <a:solidFill>
              <a:srgbClr val="1E1E2A"/>
            </a:solidFill>
            <a:prstDash val="sysDot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9464040" y="3108960"/>
            <a:ext cx="256032" cy="256032"/>
          </a:xfrm>
          <a:prstGeom prst="lin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9418320" y="340156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0607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BS3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9592056" y="2578608"/>
            <a:ext cx="0" cy="530352"/>
          </a:xfrm>
          <a:prstGeom prst="line">
            <a:avLst/>
          </a:prstGeom>
          <a:noFill/>
          <a:ln w="6350">
            <a:solidFill>
              <a:srgbClr val="1E1E2A"/>
            </a:solidFill>
            <a:prstDash val="sysDot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10469880" y="3108960"/>
            <a:ext cx="256032" cy="256032"/>
          </a:xfrm>
          <a:prstGeom prst="lin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10424160" y="340156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0607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BS4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10597896" y="2578608"/>
            <a:ext cx="0" cy="530352"/>
          </a:xfrm>
          <a:prstGeom prst="line">
            <a:avLst/>
          </a:prstGeom>
          <a:noFill/>
          <a:ln w="6350">
            <a:solidFill>
              <a:srgbClr val="1E1E2A"/>
            </a:solidFill>
            <a:prstDash val="sysDot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11384280" y="3108960"/>
            <a:ext cx="256032" cy="256032"/>
          </a:xfrm>
          <a:prstGeom prst="lin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11338560" y="340156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0607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BS5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11512296" y="2578608"/>
            <a:ext cx="0" cy="530352"/>
          </a:xfrm>
          <a:prstGeom prst="line">
            <a:avLst/>
          </a:prstGeom>
          <a:noFill/>
          <a:ln w="6350">
            <a:solidFill>
              <a:srgbClr val="1E1E2A"/>
            </a:solidFill>
            <a:prstDash val="sysDot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7086600" y="3749040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0607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y_BS = 500 m (lateral)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502920" y="4206240"/>
            <a:ext cx="11155680" cy="10973"/>
          </a:xfrm>
          <a:prstGeom prst="rect">
            <a:avLst/>
          </a:prstGeom>
          <a:solidFill>
            <a:srgbClr val="1E1E2A"/>
          </a:solidFill>
          <a:ln w="12700">
            <a:solidFill>
              <a:srgbClr val="1E1E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502920" y="4352544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B0C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Baseline: Δx ≈ 4,706 m  ·  Cascade: Δx ≈ 11,429 m  ·  Good coverage r = 3 km (overlap at baseline spacing)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" y="685800"/>
            <a:ext cx="73152" cy="5486400"/>
          </a:xfrm>
          <a:prstGeom prst="rect">
            <a:avLst/>
          </a:prstGeom>
          <a:solidFill>
            <a:srgbClr val="EB0A1E"/>
          </a:solidFill>
          <a:ln w="12700">
            <a:solidFill>
              <a:srgbClr val="EB0A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EB0A1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INFRASTRUCTURE LAYER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11384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F0F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M/M/1 Queuing Model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6473952"/>
            <a:ext cx="12161520" cy="384048"/>
          </a:xfrm>
          <a:prstGeom prst="rect">
            <a:avLst/>
          </a:prstGeom>
          <a:solidFill>
            <a:srgbClr val="14141C"/>
          </a:solidFill>
          <a:ln w="12700">
            <a:solidFill>
              <a:srgbClr val="1414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6492240"/>
            <a:ext cx="11384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0607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UAM Corridor Simulation · Toyota/TEMA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" y="1389888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0F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Traffic intensity (utilization):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1480" y="1645920"/>
            <a:ext cx="5943600" cy="457200"/>
          </a:xfrm>
          <a:prstGeom prst="rect">
            <a:avLst/>
          </a:prstGeom>
          <a:solidFill>
            <a:srgbClr val="1A1A2C"/>
          </a:solidFill>
          <a:ln w="12700">
            <a:solidFill>
              <a:srgbClr val="5C00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" y="1691640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ρ_j = Σ_i ∈ S_j  R_i  /  C_j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02920" y="2130552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607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where S_j = set of UAMs served by BS j,  R_i = per-UAM bit rate,  C_j = BS capacity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254203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0F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Mean queuing delay (M/M/1 mean sojourn):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11480" y="2788920"/>
            <a:ext cx="5943600" cy="457200"/>
          </a:xfrm>
          <a:prstGeom prst="rect">
            <a:avLst/>
          </a:prstGeom>
          <a:solidFill>
            <a:srgbClr val="1A1A2C"/>
          </a:solidFill>
          <a:ln w="12700">
            <a:solidFill>
              <a:srgbClr val="5C00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02920" y="2834640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W_j = L_min / (1 - ρ_j),   ρ_j &lt; 1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02920" y="3273552"/>
            <a:ext cx="5760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607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L_min = 5 ms (base processing latency,  serialization + scheduling)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11480" y="3520440"/>
            <a:ext cx="5943600" cy="457200"/>
          </a:xfrm>
          <a:prstGeom prst="rect">
            <a:avLst/>
          </a:prstGeom>
          <a:solidFill>
            <a:srgbClr val="1A1A2C"/>
          </a:solidFill>
          <a:ln w="12700">
            <a:solidFill>
              <a:srgbClr val="5C00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02920" y="3566160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W_j = 2.0 s (saturated cap)  if  ρ_j ≥ 1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02920" y="406908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0F0F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Buffer overflow check (independent of bit-rate):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11480" y="4315968"/>
            <a:ext cx="5943600" cy="420624"/>
          </a:xfrm>
          <a:prstGeom prst="rect">
            <a:avLst/>
          </a:prstGeom>
          <a:solidFill>
            <a:srgbClr val="1A1A2C"/>
          </a:solidFill>
          <a:ln w="12700">
            <a:solidFill>
              <a:srgbClr val="5C00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02920" y="4361688"/>
            <a:ext cx="5760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msgs_arrived &gt; B: drop excess  (B = 500 msgs)</a:t>
            </a:r>
            <a:endParaRPr lang="en-US" sz="12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37960" y="1389888"/>
          <a:ext cx="5577840" cy="118110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0F0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Load level</a:t>
                      </a:r>
                      <a:endParaRPr lang="en-US" sz="10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000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0F0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Threshold</a:t>
                      </a:r>
                      <a:endParaRPr lang="en-US" sz="10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000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0F0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Behaviour</a:t>
                      </a:r>
                      <a:endParaRPr lang="en-US" sz="10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000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Normal</a:t>
                      </a:r>
                      <a:endParaRPr lang="en-US" sz="10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ρ &lt; 0.60</a:t>
                      </a:r>
                      <a:endParaRPr lang="en-US" sz="10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W grows slowly with ρ</a:t>
                      </a:r>
                      <a:endParaRPr lang="en-US" sz="10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Warning</a:t>
                      </a:r>
                      <a:endParaRPr lang="en-US" sz="10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ρ ≥ 0.60</a:t>
                      </a:r>
                      <a:endParaRPr lang="en-US" sz="10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Queue builds; RTT rises</a:t>
                      </a:r>
                      <a:endParaRPr lang="en-US" sz="10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Critical</a:t>
                      </a:r>
                      <a:endParaRPr lang="en-US" sz="10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ρ ≥ 0.85</a:t>
                      </a:r>
                      <a:endParaRPr lang="en-US" sz="10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W exceeds 33 ms</a:t>
                      </a:r>
                      <a:endParaRPr lang="en-US" sz="10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Saturated</a:t>
                      </a:r>
                      <a:endParaRPr lang="en-US" sz="10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ρ ≥ 1.00</a:t>
                      </a:r>
                      <a:endParaRPr lang="en-US" sz="10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W capped at 2 s</a:t>
                      </a:r>
                      <a:endParaRPr lang="en-US" sz="10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1" name="Shape 18"/>
          <p:cNvSpPr/>
          <p:nvPr/>
        </p:nvSpPr>
        <p:spPr>
          <a:xfrm>
            <a:off x="6537960" y="3017520"/>
            <a:ext cx="5577840" cy="2395728"/>
          </a:xfrm>
          <a:prstGeom prst="rect">
            <a:avLst/>
          </a:prstGeom>
          <a:solidFill>
            <a:srgbClr val="14141C"/>
          </a:solidFill>
          <a:ln w="12700">
            <a:solidFill>
              <a:srgbClr val="1414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6675120" y="3090672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0F0F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M/M/1 delay characteristic: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6812280" y="3438144"/>
            <a:ext cx="4846320" cy="1645920"/>
          </a:xfrm>
          <a:prstGeom prst="rect">
            <a:avLst/>
          </a:prstGeom>
          <a:solidFill>
            <a:srgbClr val="0A0A0F"/>
          </a:solidFill>
          <a:ln w="6350">
            <a:solidFill>
              <a:srgbClr val="6060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6611112" y="3529584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B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11494008" y="4828032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ρ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9720072" y="3438144"/>
            <a:ext cx="0" cy="1645920"/>
          </a:xfrm>
          <a:prstGeom prst="line">
            <a:avLst/>
          </a:prstGeom>
          <a:noFill/>
          <a:ln w="10160">
            <a:solidFill>
              <a:srgbClr val="F59E0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10931652" y="3438144"/>
            <a:ext cx="0" cy="1645920"/>
          </a:xfrm>
          <a:prstGeom prst="line">
            <a:avLst/>
          </a:prstGeom>
          <a:noFill/>
          <a:ln w="10160">
            <a:solidFill>
              <a:srgbClr val="F8717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9628632" y="51206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0.6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10821924" y="512064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0.85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6995160" y="378561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 = L_min/(1-ρ) → ∞ as ρ → 1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6995160" y="412394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607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Low ρ: W ≈ L_min = 5 ms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10986516" y="3986784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8717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Steep divergence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8717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after ρ = 0.85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" y="685800"/>
            <a:ext cx="73152" cy="5486400"/>
          </a:xfrm>
          <a:prstGeom prst="rect">
            <a:avLst/>
          </a:prstGeom>
          <a:solidFill>
            <a:srgbClr val="EB0A1E"/>
          </a:solidFill>
          <a:ln w="12700">
            <a:solidFill>
              <a:srgbClr val="EB0A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EB0A1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NETWORK LAYER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11384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F0F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Communication Architecture &amp; Messages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6473952"/>
            <a:ext cx="12161520" cy="384048"/>
          </a:xfrm>
          <a:prstGeom prst="rect">
            <a:avLst/>
          </a:prstGeom>
          <a:solidFill>
            <a:srgbClr val="14141C"/>
          </a:solidFill>
          <a:ln w="12700">
            <a:solidFill>
              <a:srgbClr val="1414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6492240"/>
            <a:ext cx="11384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0607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UAM Corridor Simulation · Toyota/TEMA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" y="13898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0F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Communication graph  G = (V, E)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719072"/>
            <a:ext cx="11384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0C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V: UAM nodes · BS nodes · one GCS node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1993392"/>
            <a:ext cx="11384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0C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E: directed (UAM → BS), (BS → UAM) per connected vehicle; (BS → GCS) always present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267712"/>
            <a:ext cx="11384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0C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Edge attributes: quality ∈ {good, degraded},  rtt [s],  rtt_ok [bool]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2606040"/>
            <a:ext cx="11155680" cy="10973"/>
          </a:xfrm>
          <a:prstGeom prst="rect">
            <a:avLst/>
          </a:prstGeom>
          <a:solidFill>
            <a:srgbClr val="1E1E2A"/>
          </a:solidFill>
          <a:ln w="12700">
            <a:solidFill>
              <a:srgbClr val="1E1E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2920" y="2743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0F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Messages per UAM per step</a:t>
            </a:r>
            <a:endParaRPr lang="en-US" sz="13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3072384"/>
          <a:ext cx="10881360" cy="944880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0F0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Message class</a:t>
                      </a:r>
                      <a:endParaRPr lang="en-US" sz="10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000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0F0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Size / Rate</a:t>
                      </a:r>
                      <a:endParaRPr lang="en-US" sz="10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000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0F0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Bit rate</a:t>
                      </a:r>
                      <a:endParaRPr lang="en-US" sz="10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000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0F0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Purpose</a:t>
                      </a:r>
                      <a:endParaRPr lang="en-US" sz="10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000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Basic Safety Msg (BSM)</a:t>
                      </a:r>
                      <a:endParaRPr lang="en-US" sz="10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300 B × 10 Hz</a:t>
                      </a:r>
                      <a:endParaRPr lang="en-US" sz="10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24 kbps</a:t>
                      </a:r>
                      <a:endParaRPr lang="en-US" sz="10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Position, velocity, identity — all nodes</a:t>
                      </a:r>
                      <a:endParaRPr lang="en-US" sz="10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HOTL control stream</a:t>
                      </a:r>
                      <a:endParaRPr lang="en-US" sz="10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Supervisory telemetry</a:t>
                      </a:r>
                      <a:endParaRPr lang="en-US" sz="10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35 kbps</a:t>
                      </a:r>
                      <a:endParaRPr lang="en-US" sz="10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Aircraft health; human monitors only</a:t>
                      </a:r>
                      <a:endParaRPr lang="en-US" sz="10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HWTL video stream</a:t>
                      </a:r>
                      <a:endParaRPr lang="en-US" sz="10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Live video + commands</a:t>
                      </a:r>
                      <a:endParaRPr lang="en-US" sz="10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6 Mbps</a:t>
                      </a:r>
                      <a:endParaRPr lang="en-US" sz="10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Full HD feed; human pilots actively</a:t>
                      </a:r>
                      <a:endParaRPr lang="en-US" sz="10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411480" y="4251960"/>
            <a:ext cx="11567160" cy="457200"/>
          </a:xfrm>
          <a:prstGeom prst="rect">
            <a:avLst/>
          </a:prstGeom>
          <a:solidFill>
            <a:srgbClr val="1A1A2C"/>
          </a:solidFill>
          <a:ln w="12700">
            <a:solidFill>
              <a:srgbClr val="5C00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02920" y="4297680"/>
            <a:ext cx="11384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R_i = R_BSM + R_ctrl = { 59 kbps (HOTL)  |  6,024 kbps ≈ 6 Mbps (HWTL) }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502920" y="4846320"/>
            <a:ext cx="11155680" cy="10973"/>
          </a:xfrm>
          <a:prstGeom prst="rect">
            <a:avLst/>
          </a:prstGeom>
          <a:solidFill>
            <a:srgbClr val="1E1E2A"/>
          </a:solidFill>
          <a:ln w="12700">
            <a:solidFill>
              <a:srgbClr val="1E1E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502920" y="4983480"/>
            <a:ext cx="11384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0C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Per-step message count (for buffer tracking): 10 BSM + 10 control = 20 msgs/UAM/step  (at Δt = 1 s)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02920" y="5285232"/>
            <a:ext cx="11384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607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BSM: conceptually aligned with ASTM F3548 / GUTMA UTM message formats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" y="685800"/>
            <a:ext cx="73152" cy="5486400"/>
          </a:xfrm>
          <a:prstGeom prst="rect">
            <a:avLst/>
          </a:prstGeom>
          <a:solidFill>
            <a:srgbClr val="EB0A1E"/>
          </a:solidFill>
          <a:ln w="12700">
            <a:solidFill>
              <a:srgbClr val="EB0A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EB0A1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NETWORK LAYER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11384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F0F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Round-Trip Time (RTT)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6473952"/>
            <a:ext cx="12161520" cy="384048"/>
          </a:xfrm>
          <a:prstGeom prst="rect">
            <a:avLst/>
          </a:prstGeom>
          <a:solidFill>
            <a:srgbClr val="14141C"/>
          </a:solidFill>
          <a:ln w="12700">
            <a:solidFill>
              <a:srgbClr val="1414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6492240"/>
            <a:ext cx="11384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0607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UAM Corridor Simulation · Toyota/TEMA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11480" y="1371600"/>
            <a:ext cx="11567160" cy="530352"/>
          </a:xfrm>
          <a:prstGeom prst="rect">
            <a:avLst/>
          </a:prstGeom>
          <a:solidFill>
            <a:srgbClr val="1A1A2C"/>
          </a:solidFill>
          <a:ln w="12700">
            <a:solidFill>
              <a:srgbClr val="5C00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1417320"/>
            <a:ext cx="11384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RTT_i = 2 × ( t_prop + W_j + t_bh ) + δ_HO</a:t>
            </a:r>
            <a:endParaRPr lang="en-US" sz="15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057400"/>
          <a:ext cx="10698480" cy="118110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03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0F0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Component</a:t>
                      </a:r>
                      <a:endParaRPr lang="en-US" sz="10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000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0F0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Formula / Value</a:t>
                      </a:r>
                      <a:endParaRPr lang="en-US" sz="10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000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0F0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Note</a:t>
                      </a:r>
                      <a:endParaRPr lang="en-US" sz="10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000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Propagation delay</a:t>
                      </a:r>
                      <a:endParaRPr lang="en-US" sz="10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t_prop = d_ij / c,   c = 3×10⁸ m/s</a:t>
                      </a:r>
                      <a:endParaRPr lang="en-US" sz="10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d ≈ 300–3,000 m  →  t_prop ≈ 1–10 µs (tiny)</a:t>
                      </a:r>
                      <a:endParaRPr lang="en-US" sz="10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Queuing delay</a:t>
                      </a:r>
                      <a:endParaRPr lang="en-US" sz="10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W_j = L_min / (1-ρ_j)</a:t>
                      </a:r>
                      <a:endParaRPr lang="en-US" sz="10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M/M/1; dominates RTT at high load</a:t>
                      </a:r>
                      <a:endParaRPr lang="en-US" sz="10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Backhaul delay</a:t>
                      </a:r>
                      <a:endParaRPr lang="en-US" sz="10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t_bh = 10 ms (fixed)</a:t>
                      </a:r>
                      <a:endParaRPr lang="en-US" sz="10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BS–GCS link latency</a:t>
                      </a:r>
                      <a:endParaRPr lang="en-US" sz="10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Handoff penalty</a:t>
                      </a:r>
                      <a:endParaRPr lang="en-US" sz="10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δ_HO = 100 ms (if in_handoff)</a:t>
                      </a:r>
                      <a:endParaRPr lang="en-US" sz="10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Added once during active handoff</a:t>
                      </a:r>
                      <a:endParaRPr lang="en-US" sz="10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502920" y="3840480"/>
            <a:ext cx="11155680" cy="10973"/>
          </a:xfrm>
          <a:prstGeom prst="rect">
            <a:avLst/>
          </a:prstGeom>
          <a:solidFill>
            <a:srgbClr val="1E1E2A"/>
          </a:solidFill>
          <a:ln w="12700">
            <a:solidFill>
              <a:srgbClr val="1E1E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502920" y="3977640"/>
            <a:ext cx="3566160" cy="1280160"/>
          </a:xfrm>
          <a:prstGeom prst="rect">
            <a:avLst/>
          </a:prstGeom>
          <a:solidFill>
            <a:srgbClr val="14141C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40080" y="4069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4D39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Normal</a:t>
            </a:r>
            <a:endParaRPr lang="en-US" sz="1300" dirty="0"/>
          </a:p>
        </p:txBody>
      </p:sp>
      <p:sp>
        <p:nvSpPr>
          <p:cNvPr id="9" name="Text 10"/>
          <p:cNvSpPr/>
          <p:nvPr/>
        </p:nvSpPr>
        <p:spPr>
          <a:xfrm>
            <a:off x="640080" y="437083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060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ρ ≪ 1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640080" y="46634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4D39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RTT ≈ 21 ms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40080" y="498348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060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× (0 + 5 ms + 10 ms)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4251960" y="3977640"/>
            <a:ext cx="3566160" cy="1280160"/>
          </a:xfrm>
          <a:prstGeom prst="rect">
            <a:avLst/>
          </a:prstGeom>
          <a:solidFill>
            <a:srgbClr val="14141C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4389120" y="4069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Stressed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389120" y="437083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060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ρ = 0.85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4389120" y="46634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RTT ≈ 87 ms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4389120" y="498348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060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× (0 + 33 ms + 10 ms)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8001000" y="3977640"/>
            <a:ext cx="3566160" cy="1280160"/>
          </a:xfrm>
          <a:prstGeom prst="rect">
            <a:avLst/>
          </a:prstGeom>
          <a:solidFill>
            <a:srgbClr val="14141C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8138160" y="4069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717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Saturated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8138160" y="437083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060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ρ ≥ 1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138160" y="46634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717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RTT ≈ 4 s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8138160" y="498348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060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× (0 + 2 s + 10 ms)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502920" y="5349240"/>
            <a:ext cx="1280160" cy="201168"/>
          </a:xfrm>
          <a:prstGeom prst="roundRect">
            <a:avLst>
              <a:gd name="adj" fmla="val 22727"/>
            </a:avLst>
          </a:prstGeom>
          <a:solidFill>
            <a:srgbClr val="F87171">
              <a:alpha val="20000"/>
            </a:srgbClr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502920" y="534924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8717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RTT_max = 500 ms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" y="685800"/>
            <a:ext cx="73152" cy="5486400"/>
          </a:xfrm>
          <a:prstGeom prst="rect">
            <a:avLst/>
          </a:prstGeom>
          <a:solidFill>
            <a:srgbClr val="EB0A1E"/>
          </a:solidFill>
          <a:ln w="12700">
            <a:solidFill>
              <a:srgbClr val="EB0A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EB0A1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NETWORK LAYER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11384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F0F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Handoff Algorithm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6473952"/>
            <a:ext cx="12161520" cy="384048"/>
          </a:xfrm>
          <a:prstGeom prst="rect">
            <a:avLst/>
          </a:prstGeom>
          <a:solidFill>
            <a:srgbClr val="14141C"/>
          </a:solidFill>
          <a:ln w="12700">
            <a:solidFill>
              <a:srgbClr val="1414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6492240"/>
            <a:ext cx="11384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0607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UAM Corridor Simulation · Toyota/TEMA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02920" y="1371600"/>
            <a:ext cx="11384280" cy="868680"/>
          </a:xfrm>
          <a:prstGeom prst="rect">
            <a:avLst/>
          </a:prstGeom>
          <a:solidFill>
            <a:srgbClr val="14141C"/>
          </a:solidFill>
          <a:ln w="12700">
            <a:solidFill>
              <a:srgbClr val="1414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02920" y="1371600"/>
            <a:ext cx="54864" cy="86868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67512" y="146304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0A5F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97280" y="1463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0F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Coverage scan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97280" y="1755648"/>
            <a:ext cx="10652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Compute d_ij to all BS.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0B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Candidate set  C_i = { j : d_ij ≤ r_deg }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2920" y="2331720"/>
            <a:ext cx="11384280" cy="868680"/>
          </a:xfrm>
          <a:prstGeom prst="rect">
            <a:avLst/>
          </a:prstGeom>
          <a:solidFill>
            <a:srgbClr val="14141C"/>
          </a:solidFill>
          <a:ln w="12700">
            <a:solidFill>
              <a:srgbClr val="1414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02920" y="2331720"/>
            <a:ext cx="54864" cy="86868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67512" y="242316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A78BF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97280" y="24231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0F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Best BS selection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97280" y="2715768"/>
            <a:ext cx="10652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Sort C_i by distance.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0B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Nearest BS = candidate j*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2920" y="3291840"/>
            <a:ext cx="11384280" cy="868680"/>
          </a:xfrm>
          <a:prstGeom prst="rect">
            <a:avLst/>
          </a:prstGeom>
          <a:solidFill>
            <a:srgbClr val="14141C"/>
          </a:solidFill>
          <a:ln w="12700">
            <a:solidFill>
              <a:srgbClr val="1414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02920" y="3291840"/>
            <a:ext cx="54864" cy="868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67512" y="338328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9E0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097280" y="33832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0F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Hysteresis check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97280" y="3675888"/>
            <a:ext cx="10652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Trigger handoff only if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0B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d_ij* ≤ 0.8 × d_i,prev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0B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(must be 20% closer)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02920" y="4251960"/>
            <a:ext cx="11384280" cy="868680"/>
          </a:xfrm>
          <a:prstGeom prst="rect">
            <a:avLst/>
          </a:prstGeom>
          <a:solidFill>
            <a:srgbClr val="14141C"/>
          </a:solidFill>
          <a:ln w="12700">
            <a:solidFill>
              <a:srgbClr val="1414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02920" y="4251960"/>
            <a:ext cx="54864" cy="86868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67512" y="434340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8717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097280" y="43434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0F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Execution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97280" y="4636008"/>
            <a:ext cx="10652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Remove old edges from G.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0B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in_handoff = true for T_HO = 200 ms.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0B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Drop each msg with p_drop = 0.1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02920" y="5212080"/>
            <a:ext cx="11384280" cy="868680"/>
          </a:xfrm>
          <a:prstGeom prst="rect">
            <a:avLst/>
          </a:prstGeom>
          <a:solidFill>
            <a:srgbClr val="14141C"/>
          </a:solidFill>
          <a:ln w="12700">
            <a:solidFill>
              <a:srgbClr val="1414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502920" y="5212080"/>
            <a:ext cx="54864" cy="86868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67512" y="530352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4D39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5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097280" y="5303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0F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Graph update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097280" y="5596128"/>
            <a:ext cx="10652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 edges (u_i, j*) and (j*, u_i)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0B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quality {good|degraded}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02920" y="6108192"/>
            <a:ext cx="11155680" cy="10973"/>
          </a:xfrm>
          <a:prstGeom prst="rect">
            <a:avLst/>
          </a:prstGeom>
          <a:solidFill>
            <a:srgbClr val="1E1E2A"/>
          </a:solidFill>
          <a:ln w="12700">
            <a:solidFill>
              <a:srgbClr val="1E1E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02920" y="6163056"/>
            <a:ext cx="11155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060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T_HO = 200 ms   ·   p_drop = 0.10   ·   δ_HO = +100 ms   ·   hysteresis = 20% closer required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" y="685800"/>
            <a:ext cx="73152" cy="5486400"/>
          </a:xfrm>
          <a:prstGeom prst="rect">
            <a:avLst/>
          </a:prstGeom>
          <a:solidFill>
            <a:srgbClr val="EB0A1E"/>
          </a:solidFill>
          <a:ln w="12700">
            <a:solidFill>
              <a:srgbClr val="EB0A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EB0A1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KPI DEFINITIONS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11384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F0F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Safety &amp; Performance Metrics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6473952"/>
            <a:ext cx="12161520" cy="384048"/>
          </a:xfrm>
          <a:prstGeom prst="rect">
            <a:avLst/>
          </a:prstGeom>
          <a:solidFill>
            <a:srgbClr val="14141C"/>
          </a:solidFill>
          <a:ln w="12700">
            <a:solidFill>
              <a:srgbClr val="1414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6492240"/>
            <a:ext cx="11384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0607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UAM Corridor Simulation · Toyota/TEMA 2026</a:t>
            </a:r>
            <a:endParaRPr lang="en-US" sz="8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89888"/>
          <a:ext cx="10789920" cy="205740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0F0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KPI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000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0F0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Formula / Computation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000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0F0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Threshold / Alert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000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Min separation time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T_sep = Δx / v_follower (pairwise)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Violation if T_sep &lt; 2 s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Max RTT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RTT_i = 2(t_prop + W_j + t_bh) + δ_HO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Violation if RTT &gt; 500 ms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Drop rate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(msgs_dropped) / (dropped + processed)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Alert if &gt; 5%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BS load factor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ρ_j = λ_arr / C_j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Warn ≥ 60%  |  Critical ≥ 85%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No-coverage count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UAMs with serving_bs = None, per step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Any count &gt; 0 is concerning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Handoff count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UAMs in active handoff, per step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Trend indicator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Concurrent HWTL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Sum of UAMs in HWTL mode, per step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Directly drives BS load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Separation violations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Cumulative steps with T_sep &lt; τ_viol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Zero tolerance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02920" y="5212080"/>
            <a:ext cx="11155680" cy="10973"/>
          </a:xfrm>
          <a:prstGeom prst="rect">
            <a:avLst/>
          </a:prstGeom>
          <a:solidFill>
            <a:srgbClr val="1E1E2A"/>
          </a:solidFill>
          <a:ln w="12700">
            <a:solidFill>
              <a:srgbClr val="1E1E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02920" y="534924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0C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Scenario classification: NORMAL if ρ_max &lt; 0.85 &amp; drop rate &lt; 5% &amp; no sep violations.  DEGRADED if drop rate ≥ 5% or any BS time-in-red &gt; 10%.  UNSAFE if separation violated.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" y="685800"/>
            <a:ext cx="73152" cy="5486400"/>
          </a:xfrm>
          <a:prstGeom prst="rect">
            <a:avLst/>
          </a:prstGeom>
          <a:solidFill>
            <a:srgbClr val="EB0A1E"/>
          </a:solidFill>
          <a:ln w="12700">
            <a:solidFill>
              <a:srgbClr val="EB0A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EB0A1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KPI DEFINITIONS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11384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F0F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KPI Dependency Chain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6473952"/>
            <a:ext cx="12161520" cy="384048"/>
          </a:xfrm>
          <a:prstGeom prst="rect">
            <a:avLst/>
          </a:prstGeom>
          <a:solidFill>
            <a:srgbClr val="14141C"/>
          </a:solidFill>
          <a:ln w="12700">
            <a:solidFill>
              <a:srgbClr val="1414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6492240"/>
            <a:ext cx="11384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0607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UAM Corridor Simulation · Toyota/TEMA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920240"/>
            <a:ext cx="1920240" cy="1554480"/>
          </a:xfrm>
          <a:prstGeom prst="rect">
            <a:avLst/>
          </a:prstGeom>
          <a:solidFill>
            <a:srgbClr val="14141C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7200" y="1920240"/>
            <a:ext cx="1920240" cy="6400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30352" y="2194560"/>
            <a:ext cx="17739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60A5F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UAM count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60A5F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+ mode mix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468880" y="2514600"/>
            <a:ext cx="301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0607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2788920" y="1920240"/>
            <a:ext cx="1920240" cy="1554480"/>
          </a:xfrm>
          <a:prstGeom prst="rect">
            <a:avLst/>
          </a:prstGeom>
          <a:solidFill>
            <a:srgbClr val="14141C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788920" y="1920240"/>
            <a:ext cx="1920240" cy="6400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862072" y="2194560"/>
            <a:ext cx="17739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A78BF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BS traffic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A78BF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load ρ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800600" y="2514600"/>
            <a:ext cx="301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0607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5120640" y="1920240"/>
            <a:ext cx="1920240" cy="1554480"/>
          </a:xfrm>
          <a:prstGeom prst="rect">
            <a:avLst/>
          </a:prstGeom>
          <a:solidFill>
            <a:srgbClr val="14141C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120640" y="1920240"/>
            <a:ext cx="192024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193792" y="2194560"/>
            <a:ext cx="17739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59E0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M/M/1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59E0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delay W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132320" y="2514600"/>
            <a:ext cx="301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0607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7452360" y="1920240"/>
            <a:ext cx="1920240" cy="1554480"/>
          </a:xfrm>
          <a:prstGeom prst="rect">
            <a:avLst/>
          </a:prstGeom>
          <a:solidFill>
            <a:srgbClr val="14141C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452360" y="1920240"/>
            <a:ext cx="1920240" cy="64008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525512" y="2194560"/>
            <a:ext cx="17739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8717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RTT per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8717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UAM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9464040" y="2514600"/>
            <a:ext cx="301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0607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→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9784080" y="1920240"/>
            <a:ext cx="1920240" cy="1554480"/>
          </a:xfrm>
          <a:prstGeom prst="rect">
            <a:avLst/>
          </a:prstGeom>
          <a:solidFill>
            <a:srgbClr val="14141C"/>
          </a:solidFill>
          <a:ln w="12700">
            <a:solidFill>
              <a:srgbClr val="EB0A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9784080" y="1920240"/>
            <a:ext cx="1920240" cy="64008"/>
          </a:xfrm>
          <a:prstGeom prst="rect">
            <a:avLst/>
          </a:prstGeom>
          <a:solidFill>
            <a:srgbClr val="EB0A1E"/>
          </a:solidFill>
          <a:ln w="12700">
            <a:solidFill>
              <a:srgbClr val="EB0A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9857232" y="2194560"/>
            <a:ext cx="17739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EB0A1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Safety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EB0A1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classification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02920" y="3794760"/>
            <a:ext cx="11155680" cy="10973"/>
          </a:xfrm>
          <a:prstGeom prst="rect">
            <a:avLst/>
          </a:prstGeom>
          <a:solidFill>
            <a:srgbClr val="1E1E2A"/>
          </a:solidFill>
          <a:ln w="12700">
            <a:solidFill>
              <a:srgbClr val="1E1E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02920" y="393192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Key non-linearity: one HWTL aircraft = ~100 HOTL aircraft in bandwidth demand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1783080" y="4251960"/>
            <a:ext cx="8595360" cy="457200"/>
          </a:xfrm>
          <a:prstGeom prst="rect">
            <a:avLst/>
          </a:prstGeom>
          <a:solidFill>
            <a:srgbClr val="1A1A2C"/>
          </a:solidFill>
          <a:ln w="12700">
            <a:solidFill>
              <a:srgbClr val="5C00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1874520" y="429768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E[concurrent HWTL] = N_UAM × λ_hr/3600 × d̅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502920" y="4773168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4D39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At baseline (N=50, λ=0.5/hr, d̄=60 s):  E[HWTL] ≈ 0.42  →  ρ ≈ 3.7%  →  safe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02920" y="5074920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8717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At cascade (N=60, λ=8/hr, d̄=90 s):  E[HWTL] ≈ 12  →  ρ ≈ 63%  →  yellow; with surge → saturated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" y="685800"/>
            <a:ext cx="73152" cy="5486400"/>
          </a:xfrm>
          <a:prstGeom prst="rect">
            <a:avLst/>
          </a:prstGeom>
          <a:solidFill>
            <a:srgbClr val="EB0A1E"/>
          </a:solidFill>
          <a:ln w="12700">
            <a:solidFill>
              <a:srgbClr val="EB0A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EB0A1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SCENARIOS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11384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F0F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Four Prototype Experiments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6473952"/>
            <a:ext cx="12161520" cy="384048"/>
          </a:xfrm>
          <a:prstGeom prst="rect">
            <a:avLst/>
          </a:prstGeom>
          <a:solidFill>
            <a:srgbClr val="14141C"/>
          </a:solidFill>
          <a:ln w="12700">
            <a:solidFill>
              <a:srgbClr val="1414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6492240"/>
            <a:ext cx="11384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0607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UAM Corridor Simulation · Toyota/TEMA 2026</a:t>
            </a:r>
            <a:endParaRPr lang="en-US" sz="8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89888"/>
          <a:ext cx="9921240" cy="1181100"/>
        </p:xfrm>
        <a:graphic>
          <a:graphicData uri="http://schemas.openxmlformats.org/drawingml/2006/table">
            <a:tbl>
              <a:tblPr/>
              <a:tblGrid>
                <a:gridCol w="365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4231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0F0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#</a:t>
                      </a:r>
                      <a:endParaRPr lang="en-US" sz="10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000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0F0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Scenario</a:t>
                      </a:r>
                      <a:endParaRPr lang="en-US" sz="10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000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0F0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N</a:t>
                      </a:r>
                      <a:endParaRPr lang="en-US" sz="10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000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0F0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M BS</a:t>
                      </a:r>
                      <a:endParaRPr lang="en-US" sz="10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000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0F0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C [Mbps]</a:t>
                      </a:r>
                      <a:endParaRPr lang="en-US" sz="10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000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0F0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λ_hr</a:t>
                      </a:r>
                      <a:endParaRPr lang="en-US" sz="10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000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0F0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External Load</a:t>
                      </a:r>
                      <a:endParaRPr lang="en-US" sz="10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000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0F0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Result</a:t>
                      </a:r>
                      <a:endParaRPr lang="en-US" sz="10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000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1</a:t>
                      </a:r>
                      <a:endParaRPr lang="en-US" sz="10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Baseline</a:t>
                      </a:r>
                      <a:endParaRPr lang="en-US" sz="10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50</a:t>
                      </a:r>
                      <a:endParaRPr lang="en-US" sz="10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16</a:t>
                      </a:r>
                      <a:endParaRPr lang="en-US" sz="10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100</a:t>
                      </a:r>
                      <a:endParaRPr lang="en-US" sz="10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0.5</a:t>
                      </a:r>
                      <a:endParaRPr lang="en-US" sz="10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None</a:t>
                      </a:r>
                      <a:endParaRPr lang="en-US" sz="10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34D39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NORMAL</a:t>
                      </a:r>
                      <a:endParaRPr lang="en-US" sz="10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2</a:t>
                      </a:r>
                      <a:endParaRPr lang="en-US" sz="10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High Density</a:t>
                      </a:r>
                      <a:endParaRPr lang="en-US" sz="10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150</a:t>
                      </a:r>
                      <a:endParaRPr lang="en-US" sz="10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16</a:t>
                      </a:r>
                      <a:endParaRPr lang="en-US" sz="10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50</a:t>
                      </a:r>
                      <a:endParaRPr lang="en-US" sz="10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0.5</a:t>
                      </a:r>
                      <a:endParaRPr lang="en-US" sz="10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None</a:t>
                      </a:r>
                      <a:endParaRPr lang="en-US" sz="10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87171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UNSAFE</a:t>
                      </a:r>
                      <a:endParaRPr lang="en-US" sz="10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3</a:t>
                      </a:r>
                      <a:endParaRPr lang="en-US" sz="10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Frequent Switches</a:t>
                      </a:r>
                      <a:endParaRPr lang="en-US" sz="10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80</a:t>
                      </a:r>
                      <a:endParaRPr lang="en-US" sz="10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16</a:t>
                      </a:r>
                      <a:endParaRPr lang="en-US" sz="10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100</a:t>
                      </a:r>
                      <a:endParaRPr lang="en-US" sz="10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5.0</a:t>
                      </a:r>
                      <a:endParaRPr lang="en-US" sz="10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None</a:t>
                      </a:r>
                      <a:endParaRPr lang="en-US" sz="10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34D39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NORMAL</a:t>
                      </a:r>
                      <a:endParaRPr lang="en-US" sz="10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4</a:t>
                      </a:r>
                      <a:endParaRPr lang="en-US" sz="10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Cascade Failure</a:t>
                      </a:r>
                      <a:endParaRPr lang="en-US" sz="10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60</a:t>
                      </a:r>
                      <a:endParaRPr lang="en-US" sz="10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6</a:t>
                      </a:r>
                      <a:endParaRPr lang="en-US" sz="10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20</a:t>
                      </a:r>
                      <a:endParaRPr lang="en-US" sz="10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8.0</a:t>
                      </a:r>
                      <a:endParaRPr lang="en-US" sz="10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+8 Mbps t=120-360 s</a:t>
                      </a:r>
                      <a:endParaRPr lang="en-US" sz="10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87171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UNSAFE</a:t>
                      </a:r>
                      <a:endParaRPr lang="en-US" sz="10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02920" y="3291840"/>
            <a:ext cx="11155680" cy="10973"/>
          </a:xfrm>
          <a:prstGeom prst="rect">
            <a:avLst/>
          </a:prstGeom>
          <a:solidFill>
            <a:srgbClr val="1E1E2A"/>
          </a:solidFill>
          <a:ln w="12700">
            <a:solidFill>
              <a:srgbClr val="1E1E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02920" y="342900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B0C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Design principle: scenarios stress one variable at a time — traffic density, switch rate, or infrastructure fragility.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02920" y="3895344"/>
            <a:ext cx="45720" cy="38404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67512" y="390448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4D39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S1 Baseline: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2880360" y="3904488"/>
            <a:ext cx="8915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0C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Infrastructure sized with ample headroom → ρ ≈ 3%, RTT ≈ 21 ms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02920" y="4425696"/>
            <a:ext cx="45720" cy="384048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67512" y="4434840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8717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S2 High Density: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2880360" y="4434840"/>
            <a:ext cx="8915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0C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3× UAMs + halved capacity → BS near destination saturates; separation violations emerge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02920" y="4956048"/>
            <a:ext cx="45720" cy="38404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14"/>
          <p:cNvSpPr/>
          <p:nvPr/>
        </p:nvSpPr>
        <p:spPr>
          <a:xfrm>
            <a:off x="667512" y="496519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4D39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S3 Freq. Switches: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2880360" y="4965192"/>
            <a:ext cx="8915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0C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10× switch rate manageable when N is modest — towers were sized for video bursts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02920" y="5486400"/>
            <a:ext cx="45720" cy="384048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667512" y="5495544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8717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S4 Cascade Failure: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2880360" y="5495544"/>
            <a:ext cx="8915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0C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Dual trigger (HWTL accumulation + terrestrial surge) tips already-stressed BS to ρ &gt; 100%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" y="685800"/>
            <a:ext cx="73152" cy="5486400"/>
          </a:xfrm>
          <a:prstGeom prst="rect">
            <a:avLst/>
          </a:prstGeom>
          <a:solidFill>
            <a:srgbClr val="EB0A1E"/>
          </a:solidFill>
          <a:ln w="12700">
            <a:solidFill>
              <a:srgbClr val="EB0A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EB0A1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SCENARIOS · S1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11384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F0F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Scenario 1: Baseline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6473952"/>
            <a:ext cx="12161520" cy="384048"/>
          </a:xfrm>
          <a:prstGeom prst="rect">
            <a:avLst/>
          </a:prstGeom>
          <a:solidFill>
            <a:srgbClr val="14141C"/>
          </a:solidFill>
          <a:ln w="12700">
            <a:solidFill>
              <a:srgbClr val="1414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6492240"/>
            <a:ext cx="11384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0607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UAM Corridor Simulation · Toyota/TEMA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02920" y="1389888"/>
            <a:ext cx="3749040" cy="2194560"/>
          </a:xfrm>
          <a:prstGeom prst="rect">
            <a:avLst/>
          </a:prstGeom>
          <a:solidFill>
            <a:srgbClr val="14141C"/>
          </a:solidFill>
          <a:ln w="12700">
            <a:solidFill>
              <a:srgbClr val="1414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146304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0F0F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Parameters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40080" y="1792224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607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UAMs: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148840" y="179222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2075688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607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BS: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148840" y="207568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 × 100 Mbps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235915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607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Spacing: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148840" y="235915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4,706 m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" y="2642616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607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λ_hr: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148840" y="264261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0.5 / UAM / hr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" y="292608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607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d̄_HWTL: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148840" y="292608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60 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0080" y="3209544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607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External: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148840" y="320954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480560" y="1389888"/>
            <a:ext cx="3931920" cy="2194560"/>
          </a:xfrm>
          <a:prstGeom prst="rect">
            <a:avLst/>
          </a:prstGeom>
          <a:solidFill>
            <a:srgbClr val="14141C"/>
          </a:solidFill>
          <a:ln w="12700">
            <a:solidFill>
              <a:srgbClr val="1414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617720" y="14630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0F0F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Key Outcomes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617720" y="179222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607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Avg RTT: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812280" y="179222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~21 ms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617720" y="212140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607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BS load ρ: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812280" y="212140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~3–4%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617720" y="245059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607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Drop rate: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812280" y="24505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&lt;0.1%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617720" y="277977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607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Sep viol.: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812280" y="277977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617720" y="310896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607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Concurrent HWTL: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812280" y="310896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~0.4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595360" y="1389888"/>
            <a:ext cx="3474720" cy="2194560"/>
          </a:xfrm>
          <a:prstGeom prst="rect">
            <a:avLst/>
          </a:prstGeom>
          <a:solidFill>
            <a:srgbClr val="14141C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8686800" y="1508760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0607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VERDICT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8686800" y="178308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34D39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NORMAL</a:t>
            </a:r>
            <a:endParaRPr lang="en-US" sz="2600" dirty="0"/>
          </a:p>
        </p:txBody>
      </p:sp>
      <p:sp>
        <p:nvSpPr>
          <p:cNvPr id="36" name="Shape 34"/>
          <p:cNvSpPr/>
          <p:nvPr/>
        </p:nvSpPr>
        <p:spPr>
          <a:xfrm>
            <a:off x="8595360" y="1389888"/>
            <a:ext cx="3474720" cy="6400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502920" y="3794760"/>
            <a:ext cx="11155680" cy="10973"/>
          </a:xfrm>
          <a:prstGeom prst="rect">
            <a:avLst/>
          </a:prstGeom>
          <a:solidFill>
            <a:srgbClr val="1E1E2A"/>
          </a:solidFill>
          <a:ln w="12700">
            <a:solidFill>
              <a:srgbClr val="1E1E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02920" y="3931920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0F0F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Plain-English Interpretation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502920" y="4251960"/>
            <a:ext cx="11155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0C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normal business day on a future air corridor. 50 aircraft are spaced out evenly, flying comfortably. Cell towers handle the trickle of telemetry traffic with plenty of bandwidth to spare — no queues building, no RTT spikes. This is what the system was designed to look like under nominal operating conditions.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" y="685800"/>
            <a:ext cx="73152" cy="5486400"/>
          </a:xfrm>
          <a:prstGeom prst="rect">
            <a:avLst/>
          </a:prstGeom>
          <a:solidFill>
            <a:srgbClr val="EB0A1E"/>
          </a:solidFill>
          <a:ln w="12700">
            <a:solidFill>
              <a:srgbClr val="EB0A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EB0A1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SCENARIOS · S2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11384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F0F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Scenario 2: High Density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6473952"/>
            <a:ext cx="12161520" cy="384048"/>
          </a:xfrm>
          <a:prstGeom prst="rect">
            <a:avLst/>
          </a:prstGeom>
          <a:solidFill>
            <a:srgbClr val="14141C"/>
          </a:solidFill>
          <a:ln w="12700">
            <a:solidFill>
              <a:srgbClr val="1414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6492240"/>
            <a:ext cx="11384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0607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UAM Corridor Simulation · Toyota/TEMA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02920" y="1389888"/>
            <a:ext cx="3749040" cy="2194560"/>
          </a:xfrm>
          <a:prstGeom prst="rect">
            <a:avLst/>
          </a:prstGeom>
          <a:solidFill>
            <a:srgbClr val="14141C"/>
          </a:solidFill>
          <a:ln w="12700">
            <a:solidFill>
              <a:srgbClr val="1414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146304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0F0F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Parameters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40080" y="1792224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607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UAMs: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148840" y="179222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150 (3×)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2075688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607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BS: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148840" y="207568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 × 50 Mbps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235915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607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Lanes: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148840" y="235915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" y="2642616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607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λ_hr: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148840" y="264261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0.5 / UAM / hr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" y="292608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607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τ_min: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148840" y="292608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0080" y="3209544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607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External: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148840" y="320954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480560" y="1389888"/>
            <a:ext cx="3931920" cy="2194560"/>
          </a:xfrm>
          <a:prstGeom prst="rect">
            <a:avLst/>
          </a:prstGeom>
          <a:solidFill>
            <a:srgbClr val="14141C"/>
          </a:solidFill>
          <a:ln w="12700">
            <a:solidFill>
              <a:srgbClr val="1414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617720" y="14630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0F0F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Key Outcomes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617720" y="179222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607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Peak BS load: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812280" y="179222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&gt;100%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617720" y="212140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607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Max RTT: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812280" y="212140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500 ms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617720" y="245059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607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Drop rate: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812280" y="24505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5%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617720" y="277977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607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Sep viol.: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812280" y="277977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Many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617720" y="310896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607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Classification: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812280" y="310896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UNSAFE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595360" y="1389888"/>
            <a:ext cx="3474720" cy="2194560"/>
          </a:xfrm>
          <a:prstGeom prst="rect">
            <a:avLst/>
          </a:prstGeom>
          <a:solidFill>
            <a:srgbClr val="14141C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8686800" y="1508760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0607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VERDICT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8686800" y="178308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8717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UNSAFE</a:t>
            </a:r>
            <a:endParaRPr lang="en-US" sz="2600" dirty="0"/>
          </a:p>
        </p:txBody>
      </p:sp>
      <p:sp>
        <p:nvSpPr>
          <p:cNvPr id="36" name="Shape 34"/>
          <p:cNvSpPr/>
          <p:nvPr/>
        </p:nvSpPr>
        <p:spPr>
          <a:xfrm>
            <a:off x="8595360" y="1389888"/>
            <a:ext cx="3474720" cy="64008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502920" y="3794760"/>
            <a:ext cx="11155680" cy="10973"/>
          </a:xfrm>
          <a:prstGeom prst="rect">
            <a:avLst/>
          </a:prstGeom>
          <a:solidFill>
            <a:srgbClr val="1E1E2A"/>
          </a:solidFill>
          <a:ln w="12700">
            <a:solidFill>
              <a:srgbClr val="1E1E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02920" y="3931920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0F0F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Plain-English Interpretation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502920" y="4251960"/>
            <a:ext cx="11155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0C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Rush hour in the sky. With 3× the usual aircraft sharing the same route and halved BS capacity, two compounding problems emerge: aircraft bunch near the San Jose hub, flooding one BS; and the shrinking gap ahead of each aircraft breaches the minimum headway. Infrastructure overload and airspace safety degrade simultaneously — not because one thing broke, but because more vehicles were packed into a space designed for fewer.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" y="685800"/>
            <a:ext cx="73152" cy="5486400"/>
          </a:xfrm>
          <a:prstGeom prst="rect">
            <a:avLst/>
          </a:prstGeom>
          <a:solidFill>
            <a:srgbClr val="EB0A1E"/>
          </a:solidFill>
          <a:ln w="12700">
            <a:solidFill>
              <a:srgbClr val="EB0A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EB0A1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SCENARIOS · S3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11384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F0F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Scenario 3: Frequent Switches (λ = 5/hr)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6473952"/>
            <a:ext cx="12161520" cy="384048"/>
          </a:xfrm>
          <a:prstGeom prst="rect">
            <a:avLst/>
          </a:prstGeom>
          <a:solidFill>
            <a:srgbClr val="14141C"/>
          </a:solidFill>
          <a:ln w="12700">
            <a:solidFill>
              <a:srgbClr val="1414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6492240"/>
            <a:ext cx="11384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0607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UAM Corridor Simulation · Toyota/TEMA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02920" y="1389888"/>
            <a:ext cx="3749040" cy="2194560"/>
          </a:xfrm>
          <a:prstGeom prst="rect">
            <a:avLst/>
          </a:prstGeom>
          <a:solidFill>
            <a:srgbClr val="14141C"/>
          </a:solidFill>
          <a:ln w="12700">
            <a:solidFill>
              <a:srgbClr val="1414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146304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0F0F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Parameters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40080" y="1792224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607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UAMs: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148840" y="179222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80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2075688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607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BS: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148840" y="207568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 × 100 Mbps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235915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607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λ_hr: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148840" y="235915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5.0 / UAM / hr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" y="2642616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607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d̄_HWTL: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148840" y="264261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45 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" y="292608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607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Switch: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148840" y="292608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10× baseline rate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0080" y="3209544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607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External: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148840" y="320954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480560" y="1389888"/>
            <a:ext cx="3931920" cy="2194560"/>
          </a:xfrm>
          <a:prstGeom prst="rect">
            <a:avLst/>
          </a:prstGeom>
          <a:solidFill>
            <a:srgbClr val="14141C"/>
          </a:solidFill>
          <a:ln w="12700">
            <a:solidFill>
              <a:srgbClr val="1414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617720" y="14630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0F0F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Key Outcomes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617720" y="179222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607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Avg RTT: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812280" y="179222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~25 ms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617720" y="212140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607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Peak BS load: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812280" y="212140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~18–22%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617720" y="245059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607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Drop rate: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812280" y="24505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&lt;0.5%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617720" y="277977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607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Sep viol.: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812280" y="277977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617720" y="310896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607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Classification: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812280" y="310896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NORMAL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595360" y="1389888"/>
            <a:ext cx="3474720" cy="2194560"/>
          </a:xfrm>
          <a:prstGeom prst="rect">
            <a:avLst/>
          </a:prstGeom>
          <a:solidFill>
            <a:srgbClr val="14141C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8686800" y="1508760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0607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VERDICT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8686800" y="178308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34D39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NORMAL</a:t>
            </a:r>
            <a:endParaRPr lang="en-US" sz="2600" dirty="0"/>
          </a:p>
        </p:txBody>
      </p:sp>
      <p:sp>
        <p:nvSpPr>
          <p:cNvPr id="36" name="Shape 34"/>
          <p:cNvSpPr/>
          <p:nvPr/>
        </p:nvSpPr>
        <p:spPr>
          <a:xfrm>
            <a:off x="8595360" y="1389888"/>
            <a:ext cx="3474720" cy="6400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502920" y="3794760"/>
            <a:ext cx="11155680" cy="10973"/>
          </a:xfrm>
          <a:prstGeom prst="rect">
            <a:avLst/>
          </a:prstGeom>
          <a:solidFill>
            <a:srgbClr val="1E1E2A"/>
          </a:solidFill>
          <a:ln w="12700">
            <a:solidFill>
              <a:srgbClr val="1E1E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02920" y="3931920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0F0F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Plain-English Interpretation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502920" y="4251960"/>
            <a:ext cx="11155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0C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Pilots take manual control 10× more often than baseline — each intervention triggers a 6 Mbps video stream. Like switching from SMS to video-call. Despite the extra load, the corridor handles it: with 80 aircraft (not 150), and towers sized with headroom for video bursts, utilization stays below 25%. The system demonstrates that occasional human intervention is not inherently dangerous — it just needs infrastructure sized to absorb it.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" y="685800"/>
            <a:ext cx="73152" cy="5486400"/>
          </a:xfrm>
          <a:prstGeom prst="rect">
            <a:avLst/>
          </a:prstGeom>
          <a:solidFill>
            <a:srgbClr val="EB0A1E"/>
          </a:solidFill>
          <a:ln w="12700">
            <a:solidFill>
              <a:srgbClr val="EB0A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EB0A1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SCENARIOS · S4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11384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F0F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Scenario 4: Cascade Failure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6473952"/>
            <a:ext cx="12161520" cy="384048"/>
          </a:xfrm>
          <a:prstGeom prst="rect">
            <a:avLst/>
          </a:prstGeom>
          <a:solidFill>
            <a:srgbClr val="14141C"/>
          </a:solidFill>
          <a:ln w="12700">
            <a:solidFill>
              <a:srgbClr val="1414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6492240"/>
            <a:ext cx="11384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0607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UAM Corridor Simulation · Toyota/TEMA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02920" y="1389888"/>
            <a:ext cx="3749040" cy="2194560"/>
          </a:xfrm>
          <a:prstGeom prst="rect">
            <a:avLst/>
          </a:prstGeom>
          <a:solidFill>
            <a:srgbClr val="14141C"/>
          </a:solidFill>
          <a:ln w="12700">
            <a:solidFill>
              <a:srgbClr val="1414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146304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0F0F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Parameters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40080" y="1792224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607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UAMs: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148840" y="179222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60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2075688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607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BS: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148840" y="207568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× 20 Mbps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235915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607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λ_hr: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148840" y="235915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8.0 / UAM / hr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" y="2642616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607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d̄_HWTL: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148840" y="264261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90 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" y="292608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607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Surge: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148840" y="292608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+8 Mbps @ t=120–360 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0080" y="3209544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607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E[HWTL/BS]: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148840" y="320954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≈ 2 at steady state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480560" y="1389888"/>
            <a:ext cx="3931920" cy="2194560"/>
          </a:xfrm>
          <a:prstGeom prst="rect">
            <a:avLst/>
          </a:prstGeom>
          <a:solidFill>
            <a:srgbClr val="14141C"/>
          </a:solidFill>
          <a:ln w="12700">
            <a:solidFill>
              <a:srgbClr val="1414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617720" y="14630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0F0F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Key Outcomes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617720" y="179222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607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Phase 1 ρ: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812280" y="179222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~3% (green)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617720" y="212140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607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Phase 2 ρ: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812280" y="212140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~63% (yellow)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617720" y="245059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607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Phase 3 ρ: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812280" y="24505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&gt;100% (red)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617720" y="277977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607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Max RTT: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812280" y="277977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2,000+ ms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617720" y="310896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607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Classification: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812280" y="310896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UNSAFE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595360" y="1389888"/>
            <a:ext cx="3474720" cy="2194560"/>
          </a:xfrm>
          <a:prstGeom prst="rect">
            <a:avLst/>
          </a:prstGeom>
          <a:solidFill>
            <a:srgbClr val="14141C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8686800" y="1508760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0607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VERDICT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8686800" y="178308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8717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UNSAFE</a:t>
            </a:r>
            <a:endParaRPr lang="en-US" sz="2600" dirty="0"/>
          </a:p>
        </p:txBody>
      </p:sp>
      <p:sp>
        <p:nvSpPr>
          <p:cNvPr id="36" name="Shape 34"/>
          <p:cNvSpPr/>
          <p:nvPr/>
        </p:nvSpPr>
        <p:spPr>
          <a:xfrm>
            <a:off x="8595360" y="1389888"/>
            <a:ext cx="3474720" cy="64008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502920" y="3794760"/>
            <a:ext cx="11155680" cy="10973"/>
          </a:xfrm>
          <a:prstGeom prst="rect">
            <a:avLst/>
          </a:prstGeom>
          <a:solidFill>
            <a:srgbClr val="1E1E2A"/>
          </a:solidFill>
          <a:ln w="12700">
            <a:solidFill>
              <a:srgbClr val="1E1E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02920" y="3931920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0F0F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Plain-English Interpretation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502920" y="4251960"/>
            <a:ext cx="11155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0C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Two ordinary events at the wrong time. HWTL episodes accumulate, stressing the 6-BS, 20 Mbps network to 63% utilization. Then a stadium empties: tens of thousands of phones start streaming, sharing the exact same cell towers as the aircraft. The +8 Mbps terrestrial surge tips already-stressed BSs past ρ = 1. RTT balloons from milliseconds to seconds. Commands stop arriving in time. The towers failed because two unrelated groups needed the same resource simultaneously — and no one planned for the collision.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" y="685800"/>
            <a:ext cx="73152" cy="5486400"/>
          </a:xfrm>
          <a:prstGeom prst="rect">
            <a:avLst/>
          </a:prstGeom>
          <a:solidFill>
            <a:srgbClr val="EB0A1E"/>
          </a:solidFill>
          <a:ln w="12700">
            <a:solidFill>
              <a:srgbClr val="EB0A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EB0A1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VALIDATION &amp; ROADMAP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11384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F0F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Known Limitations &amp; Planned Sub-Model Replacements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6473952"/>
            <a:ext cx="12161520" cy="384048"/>
          </a:xfrm>
          <a:prstGeom prst="rect">
            <a:avLst/>
          </a:prstGeom>
          <a:solidFill>
            <a:srgbClr val="14141C"/>
          </a:solidFill>
          <a:ln w="12700">
            <a:solidFill>
              <a:srgbClr val="1414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6492240"/>
            <a:ext cx="11384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0607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UAM Corridor Simulation · Toyota/TEMA 2026</a:t>
            </a:r>
            <a:endParaRPr lang="en-US" sz="8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89888"/>
          <a:ext cx="10789920" cy="198882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2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0F0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Component</a:t>
                      </a:r>
                      <a:endParaRPr lang="en-US" sz="9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000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0F0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Current Model (Prototype)</a:t>
                      </a:r>
                      <a:endParaRPr lang="en-US" sz="9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000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0F0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Planned Replacement</a:t>
                      </a:r>
                      <a:endParaRPr lang="en-US" sz="9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000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UAV kinematics</a:t>
                      </a:r>
                      <a:endParaRPr lang="en-US" sz="9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Instantaneous speed adjustment; no inertia</a:t>
                      </a:r>
                      <a:endParaRPr lang="en-US" sz="9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IDM or eVTOL thrust/drag model calibrated to Joby S4 / Toyota NX specs</a:t>
                      </a:r>
                      <a:endParaRPr lang="en-US" sz="9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Separation standard</a:t>
                      </a:r>
                      <a:endParaRPr lang="en-US" sz="9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τ_min = 2–5 s (AI placeholder)</a:t>
                      </a:r>
                      <a:endParaRPr lang="en-US" sz="9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FAA/EASA UAM separation minima or operator-specific envelope</a:t>
                      </a:r>
                      <a:endParaRPr lang="en-US" sz="9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Radio propagation</a:t>
                      </a:r>
                      <a:endParaRPr lang="en-US" sz="9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Binary distance threshold (no path loss)</a:t>
                      </a:r>
                      <a:endParaRPr lang="en-US" sz="9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A2G path-loss model (free-space + terrain/building shielding)</a:t>
                      </a:r>
                      <a:endParaRPr lang="en-US" sz="9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Link capacity</a:t>
                      </a:r>
                      <a:endParaRPr lang="en-US" sz="9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Fixed BS throughput ceiling</a:t>
                      </a:r>
                      <a:endParaRPr lang="en-US" sz="9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SINR-based spectral efficiency; frequency reuse across adjacent cells</a:t>
                      </a:r>
                      <a:endParaRPr lang="en-US" sz="9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5G queuing</a:t>
                      </a:r>
                      <a:endParaRPr lang="en-US" sz="9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M/M/1 single-class</a:t>
                      </a:r>
                      <a:endParaRPr lang="en-US" sz="9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M/M/1/K (finite buffer) or M/D/1; multi-priority for UAM vs ground users</a:t>
                      </a:r>
                      <a:endParaRPr lang="en-US" sz="9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Corridor geometry</a:t>
                      </a:r>
                      <a:endParaRPr lang="en-US" sz="9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1D linear, uniform BS placement</a:t>
                      </a:r>
                      <a:endParaRPr lang="en-US" sz="9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SF–SJ geographic waypoints; no-fly zones; multi-lane 3D corridors</a:t>
                      </a:r>
                      <a:endParaRPr lang="en-US" sz="9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Network topology</a:t>
                      </a:r>
                      <a:endParaRPr lang="en-US" sz="9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Static ground BS only</a:t>
                      </a:r>
                      <a:endParaRPr lang="en-US" sz="9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HAPS / LEO relay nodes; moving-relay topology</a:t>
                      </a:r>
                      <a:endParaRPr lang="en-US" sz="9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HWTL trigger model</a:t>
                      </a:r>
                      <a:endParaRPr lang="en-US" sz="9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Stationary Poisson process</a:t>
                      </a:r>
                      <a:endParaRPr lang="en-US" sz="9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Event-driven: weather, airspace conflict, ATC instruction, payload</a:t>
                      </a:r>
                      <a:endParaRPr lang="en-US" sz="9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02920" y="5394960"/>
            <a:ext cx="11155680" cy="10973"/>
          </a:xfrm>
          <a:prstGeom prst="rect">
            <a:avLst/>
          </a:prstGeom>
          <a:solidFill>
            <a:srgbClr val="1E1E2A"/>
          </a:solidFill>
          <a:ln w="12700">
            <a:solidFill>
              <a:srgbClr val="1E1E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02920" y="5504688"/>
            <a:ext cx="11155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B0C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prototype is architecturally correct — the coupling mechanism is faithfully modeled. Validation requires substituting real-world sub-models and calibrating to Joby / Toyota performance data.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" y="685800"/>
            <a:ext cx="73152" cy="5486400"/>
          </a:xfrm>
          <a:prstGeom prst="rect">
            <a:avLst/>
          </a:prstGeom>
          <a:solidFill>
            <a:srgbClr val="EB0A1E"/>
          </a:solidFill>
          <a:ln w="12700">
            <a:solidFill>
              <a:srgbClr val="EB0A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EB0A1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VALIDATION &amp; ROADMAP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11384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F0F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Development Roadmap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6473952"/>
            <a:ext cx="12161520" cy="384048"/>
          </a:xfrm>
          <a:prstGeom prst="rect">
            <a:avLst/>
          </a:prstGeom>
          <a:solidFill>
            <a:srgbClr val="14141C"/>
          </a:solidFill>
          <a:ln w="12700">
            <a:solidFill>
              <a:srgbClr val="1414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6492240"/>
            <a:ext cx="11384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0607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UAM Corridor Simulation · Toyota/TEMA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02920" y="1417320"/>
            <a:ext cx="2708910" cy="4206240"/>
          </a:xfrm>
          <a:prstGeom prst="rect">
            <a:avLst/>
          </a:prstGeom>
          <a:solidFill>
            <a:srgbClr val="14141C"/>
          </a:solidFill>
          <a:ln w="12700">
            <a:solidFill>
              <a:srgbClr val="EB0A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02920" y="1417320"/>
            <a:ext cx="2708910" cy="64008"/>
          </a:xfrm>
          <a:prstGeom prst="rect">
            <a:avLst/>
          </a:prstGeom>
          <a:solidFill>
            <a:srgbClr val="EB0A1E"/>
          </a:solidFill>
          <a:ln w="12700">
            <a:solidFill>
              <a:srgbClr val="EB0A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12648" y="1581912"/>
            <a:ext cx="248945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B0A1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Phase 1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EB0A1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(Now)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12648" y="2039112"/>
            <a:ext cx="248945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0F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1D Corridor Prototype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2648" y="2478024"/>
            <a:ext cx="2489454" cy="10973"/>
          </a:xfrm>
          <a:prstGeom prst="rect">
            <a:avLst/>
          </a:prstGeom>
          <a:solidFill>
            <a:srgbClr val="1E1E2A"/>
          </a:solidFill>
          <a:ln w="12700">
            <a:solidFill>
              <a:srgbClr val="1E1E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12648" y="2587752"/>
            <a:ext cx="248945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0C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· AI-default parameters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12648" y="3255264"/>
            <a:ext cx="248945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0C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· 4 scenario experiments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12648" y="3922776"/>
            <a:ext cx="248945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0C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· Coupled queuing + traffic model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12648" y="4590288"/>
            <a:ext cx="248945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0C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· HTML/PPTX reports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230118" y="306324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0607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3394710" y="1417320"/>
            <a:ext cx="2708910" cy="4206240"/>
          </a:xfrm>
          <a:prstGeom prst="rect">
            <a:avLst/>
          </a:prstGeom>
          <a:solidFill>
            <a:srgbClr val="14141C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394710" y="1417320"/>
            <a:ext cx="270891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504438" y="1581912"/>
            <a:ext cx="248945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Phase 2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504438" y="2039112"/>
            <a:ext cx="248945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0F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Validated Sub-Models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504438" y="2478024"/>
            <a:ext cx="2489454" cy="10973"/>
          </a:xfrm>
          <a:prstGeom prst="rect">
            <a:avLst/>
          </a:prstGeom>
          <a:solidFill>
            <a:srgbClr val="1E1E2A"/>
          </a:solidFill>
          <a:ln w="12700">
            <a:solidFill>
              <a:srgbClr val="1E1E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504438" y="2587752"/>
            <a:ext cx="248945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0C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· Joby S4 &amp; Toyota NX specs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504438" y="3255264"/>
            <a:ext cx="248945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0C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· A2G path-loss model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504438" y="3922776"/>
            <a:ext cx="248945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0C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· SINR-based link capacity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504438" y="4590288"/>
            <a:ext cx="248945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0C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· Event-triggered HWTL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121908" y="306324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0607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→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6286500" y="1417320"/>
            <a:ext cx="2708910" cy="4206240"/>
          </a:xfrm>
          <a:prstGeom prst="rect">
            <a:avLst/>
          </a:prstGeom>
          <a:solidFill>
            <a:srgbClr val="14141C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6286500" y="1417320"/>
            <a:ext cx="2708910" cy="6400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396228" y="1581912"/>
            <a:ext cx="248945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0A5F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Phase 3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396228" y="2039112"/>
            <a:ext cx="248945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0F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SF–SJ Geography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396228" y="2478024"/>
            <a:ext cx="2489454" cy="10973"/>
          </a:xfrm>
          <a:prstGeom prst="rect">
            <a:avLst/>
          </a:prstGeom>
          <a:solidFill>
            <a:srgbClr val="1E1E2A"/>
          </a:solidFill>
          <a:ln w="12700">
            <a:solidFill>
              <a:srgbClr val="1E1E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396228" y="2587752"/>
            <a:ext cx="248945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0C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· Geographic waypoints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396228" y="3255264"/>
            <a:ext cx="248945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0C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· No-fly zones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396228" y="3922776"/>
            <a:ext cx="248945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0C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· Terrain shielding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396228" y="4590288"/>
            <a:ext cx="248945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0C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· Multi-lane 3D corridors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9013698" y="306324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0607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→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9178290" y="1417320"/>
            <a:ext cx="2708910" cy="4206240"/>
          </a:xfrm>
          <a:prstGeom prst="rect">
            <a:avLst/>
          </a:prstGeom>
          <a:solidFill>
            <a:srgbClr val="14141C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9178290" y="1417320"/>
            <a:ext cx="2708910" cy="6400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9288018" y="1581912"/>
            <a:ext cx="248945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78BF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Phase 4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9288018" y="2039112"/>
            <a:ext cx="248945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0F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Network-Level Effects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9288018" y="2478024"/>
            <a:ext cx="2489454" cy="10973"/>
          </a:xfrm>
          <a:prstGeom prst="rect">
            <a:avLst/>
          </a:prstGeom>
          <a:solidFill>
            <a:srgbClr val="1E1E2A"/>
          </a:solidFill>
          <a:ln w="12700">
            <a:solidFill>
              <a:srgbClr val="1E1E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9288018" y="2587752"/>
            <a:ext cx="248945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0C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· Multi-corridor topology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9288018" y="3255264"/>
            <a:ext cx="248945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0C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· HAPS / moving relay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9288018" y="3922776"/>
            <a:ext cx="248945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0C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· Multi-priority 5G queuing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9288018" y="4590288"/>
            <a:ext cx="248945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0C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· Regulatory scenario analysis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02920" y="5943600"/>
            <a:ext cx="11155680" cy="10973"/>
          </a:xfrm>
          <a:prstGeom prst="rect">
            <a:avLst/>
          </a:prstGeom>
          <a:solidFill>
            <a:srgbClr val="1E1E2A"/>
          </a:solidFill>
          <a:ln w="12700">
            <a:solidFill>
              <a:srgbClr val="1E1E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502920" y="608076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B0C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Data needs from Toyota / Joby: aircraft performance envelope, actual BSM message specs, network QoS requirements, operational HWTL frequency statistics.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" y="685800"/>
            <a:ext cx="73152" cy="5486400"/>
          </a:xfrm>
          <a:prstGeom prst="rect">
            <a:avLst/>
          </a:prstGeom>
          <a:solidFill>
            <a:srgbClr val="EB0A1E"/>
          </a:solidFill>
          <a:ln w="12700">
            <a:solidFill>
              <a:srgbClr val="EB0A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EB0A1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APPENDIX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11384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F0F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Key Equations Summary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6473952"/>
            <a:ext cx="12161520" cy="384048"/>
          </a:xfrm>
          <a:prstGeom prst="rect">
            <a:avLst/>
          </a:prstGeom>
          <a:solidFill>
            <a:srgbClr val="14141C"/>
          </a:solidFill>
          <a:ln w="12700">
            <a:solidFill>
              <a:srgbClr val="1414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6492240"/>
            <a:ext cx="11384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0607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UAM Corridor Simulation · Toyota/TEMA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" y="141732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607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3D UAM–BS distance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11480" y="1627632"/>
            <a:ext cx="5669280" cy="420624"/>
          </a:xfrm>
          <a:prstGeom prst="rect">
            <a:avLst/>
          </a:prstGeom>
          <a:solidFill>
            <a:srgbClr val="1A1A2C"/>
          </a:solidFill>
          <a:ln w="12700">
            <a:solidFill>
              <a:srgbClr val="5C00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" y="1673352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d_ij = sqrt[ (x_jᴵˢ - x_i)² + (y_jᴵˢ)² + h² ]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02920" y="228600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607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BS traffic intensity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11480" y="2496312"/>
            <a:ext cx="5669280" cy="420624"/>
          </a:xfrm>
          <a:prstGeom prst="rect">
            <a:avLst/>
          </a:prstGeom>
          <a:solidFill>
            <a:srgbClr val="1A1A2C"/>
          </a:solidFill>
          <a:ln w="12700">
            <a:solidFill>
              <a:srgbClr val="5C00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2920" y="2542032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ρ_j = Σ_{i ∈ S_j} R_i  /  C_j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02920" y="315468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607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M/M/1 queuing delay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11480" y="3364992"/>
            <a:ext cx="5669280" cy="420624"/>
          </a:xfrm>
          <a:prstGeom prst="rect">
            <a:avLst/>
          </a:prstGeom>
          <a:solidFill>
            <a:srgbClr val="1A1A2C"/>
          </a:solidFill>
          <a:ln w="12700">
            <a:solidFill>
              <a:srgbClr val="5C00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02920" y="3410712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W_j = L_min / (1 - ρ_j),    ρ_j &lt; 1   (ρ_j ≥ 1: cap at 2 s)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402336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607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Round-trip time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11480" y="4233672"/>
            <a:ext cx="5669280" cy="420624"/>
          </a:xfrm>
          <a:prstGeom prst="rect">
            <a:avLst/>
          </a:prstGeom>
          <a:solidFill>
            <a:srgbClr val="1A1A2C"/>
          </a:solidFill>
          <a:ln w="12700">
            <a:solidFill>
              <a:srgbClr val="5C00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02920" y="4279392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RTT_i = 2(d_ij/c + W_j + t_bh) + δ_HO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02920" y="489204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607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Separation time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11480" y="5102352"/>
            <a:ext cx="5669280" cy="420624"/>
          </a:xfrm>
          <a:prstGeom prst="rect">
            <a:avLst/>
          </a:prstGeom>
          <a:solidFill>
            <a:srgbClr val="1A1A2C"/>
          </a:solidFill>
          <a:ln w="12700">
            <a:solidFill>
              <a:srgbClr val="5C00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02920" y="5148072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T_sep,i = (x_{i+1} - x_i) / v_i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263640" y="141732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607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Car-following speed adjust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172200" y="1627632"/>
            <a:ext cx="5669280" cy="420624"/>
          </a:xfrm>
          <a:prstGeom prst="rect">
            <a:avLst/>
          </a:prstGeom>
          <a:solidFill>
            <a:srgbClr val="1A1A2C"/>
          </a:solidFill>
          <a:ln w="12700">
            <a:solidFill>
              <a:srgbClr val="5C00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263640" y="1673352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v_i* = max( Δx / τ_min, 0 )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263640" y="228600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607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Mode-switch inter-arrival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172200" y="2496312"/>
            <a:ext cx="5669280" cy="420624"/>
          </a:xfrm>
          <a:prstGeom prst="rect">
            <a:avLst/>
          </a:prstGeom>
          <a:solidFill>
            <a:srgbClr val="1A1A2C"/>
          </a:solidFill>
          <a:ln w="12700">
            <a:solidFill>
              <a:srgbClr val="5C00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263640" y="2542032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T_switch ~ Exp(λ_hr / 3600)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263640" y="315468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607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HWTL episode duration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172200" y="3364992"/>
            <a:ext cx="5669280" cy="420624"/>
          </a:xfrm>
          <a:prstGeom prst="rect">
            <a:avLst/>
          </a:prstGeom>
          <a:solidFill>
            <a:srgbClr val="1A1A2C"/>
          </a:solidFill>
          <a:ln w="12700">
            <a:solidFill>
              <a:srgbClr val="5C00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263640" y="3410712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D_HWTL ~ Exp(1 / d̅)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263640" y="402336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607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Expected concurrent HWTL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172200" y="4233672"/>
            <a:ext cx="5669280" cy="420624"/>
          </a:xfrm>
          <a:prstGeom prst="rect">
            <a:avLst/>
          </a:prstGeom>
          <a:solidFill>
            <a:srgbClr val="1A1A2C"/>
          </a:solidFill>
          <a:ln w="12700">
            <a:solidFill>
              <a:srgbClr val="5C00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263640" y="4279392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E[HWTL] = N × λ_hr/3600 × d̅</a:t>
            </a:r>
            <a:endParaRPr lang="en-US" sz="11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" y="685800"/>
            <a:ext cx="73152" cy="5486400"/>
          </a:xfrm>
          <a:prstGeom prst="rect">
            <a:avLst/>
          </a:prstGeom>
          <a:solidFill>
            <a:srgbClr val="EB0A1E"/>
          </a:solidFill>
          <a:ln w="12700">
            <a:solidFill>
              <a:srgbClr val="EB0A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EB0A1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APPENDIX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11384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F0F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Complete Default Parameter Table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6473952"/>
            <a:ext cx="12161520" cy="384048"/>
          </a:xfrm>
          <a:prstGeom prst="rect">
            <a:avLst/>
          </a:prstGeom>
          <a:solidFill>
            <a:srgbClr val="14141C"/>
          </a:solidFill>
          <a:ln w="12700">
            <a:solidFill>
              <a:srgbClr val="1414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6492240"/>
            <a:ext cx="11384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0607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UAM Corridor Simulation · Toyota/TEMA 2026</a:t>
            </a:r>
            <a:endParaRPr lang="en-US" sz="8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0780302"/>
              </p:ext>
            </p:extLst>
          </p:nvPr>
        </p:nvGraphicFramePr>
        <p:xfrm>
          <a:off x="502920" y="1161288"/>
          <a:ext cx="7589520" cy="5547360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0F0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Parameter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000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0F0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Symbol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000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0F0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Default Value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000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Simulation horizon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T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600 s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Time step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Δt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1.0 s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Corridor length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L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80,000 m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Corridor altitude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h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300 m AGL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UAM speed range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[v_min, v_max]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[40, 60] m/s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Min separation time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τ_min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5.0 s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Violation threshold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τ_viol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2.0 s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BS spacing (baseline)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Δx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≈4,706 m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BS capacity (baseline)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C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100 Mbps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Good-coverage radius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r_good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3,000 m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Degraded-coverage radius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r_deg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6,000 m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Buffer capacity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B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500 msgs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BSM size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—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300 bytes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BSM rate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—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10 Hz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HOTL control rate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R_HOTL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35 kbps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HWTL video rate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R_HWTL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6 Mbps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RTT safety threshold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RTT_max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500 ms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Base processing delay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L_min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5 ms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Backhaul delay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t_bh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10 ms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Handoff duration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T_HO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200 ms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Drop prob. (handoff)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p_drop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0.10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Default switch rate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λ_hr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0.5 / UAM / hr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Default HWTL duration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d̅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60 s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Load warning threshold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—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60%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Load critical threshold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—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B0B0C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85%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350</TotalTime>
  <Words>3964</Words>
  <Application>Microsoft Macintosh PowerPoint</Application>
  <PresentationFormat>Widescreen</PresentationFormat>
  <Paragraphs>795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Manrope</vt:lpstr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UAM Corridor Simulation — Toyota/TEMA Research 2026</dc:title>
  <dc:subject>PptxGenJS Presentation</dc:subject>
  <dc:creator>Yanbing Wang (ASU) · Toyota ITL</dc:creator>
  <cp:lastModifiedBy>Yanbing Wang</cp:lastModifiedBy>
  <cp:revision>8</cp:revision>
  <dcterms:created xsi:type="dcterms:W3CDTF">2026-03-05T16:12:08Z</dcterms:created>
  <dcterms:modified xsi:type="dcterms:W3CDTF">2026-03-05T22:03:46Z</dcterms:modified>
</cp:coreProperties>
</file>